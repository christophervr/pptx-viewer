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Relationship Id="rId7" Type="http://schemas.openxmlformats.org/officeDocument/2006/relationships/slide" Target="slides/slide2.xml"></Relationship><Relationship Id="rId8" Type="http://schemas.openxmlformats.org/officeDocument/2006/relationships/slide" Target="slides/slide3.xml"></Relationship><Relationship Id="rId9" Type="http://schemas.openxmlformats.org/officeDocument/2006/relationships/slide" Target="slides/slide4.xml"></Relationship><Relationship Id="rId10" Type="http://schemas.openxmlformats.org/officeDocument/2006/relationships/slide" Target="slides/slide5.xml"></Relationship><Relationship Id="rId11" Type="http://schemas.openxmlformats.org/officeDocument/2006/relationships/slide" Target="slides/slide6.xml"></Relationship><Relationship Id="rId12" Type="http://schemas.openxmlformats.org/officeDocument/2006/relationships/slide" Target="slides/slide7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&amp;amp;#x2022;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></Relationship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1.xml"></Relationship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1.xml"></Relationship></Relationships>
</file>

<file path=ppt/slides/_rels/slide4.xml.rels><Relationships xmlns="http://schemas.openxmlformats.org/package/2006/relationships"><Relationship Id="rId1" Type="http://schemas.openxmlformats.org/officeDocument/2006/relationships/slideLayout" Target="../slideLayouts/slideLayout1.xml"></Relationship></Relationships>
</file>

<file path=ppt/slides/_rels/slide5.xml.rels><Relationships xmlns="http://schemas.openxmlformats.org/package/2006/relationships"><Relationship Id="rId1" Type="http://schemas.openxmlformats.org/officeDocument/2006/relationships/slideLayout" Target="../slideLayouts/slideLayout1.xml"></Relationship></Relationships>
</file>

<file path=ppt/slides/_rels/slide6.xml.rels><Relationships xmlns="http://schemas.openxmlformats.org/package/2006/relationships"><Relationship Id="rId1" Type="http://schemas.openxmlformats.org/officeDocument/2006/relationships/slideLayout" Target="../slideLayouts/slideLayout1.xml"></Relationship></Relationships>
</file>

<file path=ppt/slides/_rels/slide7.xml.rels><Relationships xmlns="http://schemas.openxmlformats.org/package/2006/relationships"><Relationship Id="rId1" Type="http://schemas.openxmlformats.org/officeDocument/2006/relationships/slideLayout" Target="../slideLayouts/slideLayout1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/>
          <p:cNvSpPr txBox="0"/>
          <p:nvPr/>
        </p:nvSpPr>
        <p:spPr>
          <a:xfrm>
            <a:off x="0" y="0"/>
            <a:ext cx="4381500" cy="6858000"/>
          </a:xfrm>
          <a:prstGeom prst="rect">
            <a:avLst/>
          </a:prstGeom>
          <a:solidFill>
            <a:srgbClr val="4f46e5"/>
          </a:solidFill>
        </p:spPr>
        <p:txBody>
          <a:bodyPr wrap="square"/>
          <a:lstStyle/>
          <a:p>
            <a:pPr/>
            <a:r>
              <a:rPr lang="en-US" dirty="0"/>
              <a:t/>
            </a:r>
            <a:endParaRPr lang="en-US"/>
          </a:p>
        </p:txBody>
      </p:sp>
      <p:sp>
        <p:nvSpPr>
          <p:cNvPr id="2" name="TextBox 2"/>
          <p:cNvSpPr txBox="1"/>
          <p:nvPr/>
        </p:nvSpPr>
        <p:spPr>
          <a:xfrm>
            <a:off x="533400" y="2381250"/>
            <a:ext cx="3429000" cy="1714500"/>
          </a:xfrm>
          <a:prstGeom prst="rect">
            <a:avLst/>
          </a:prstGeom>
        </p:spPr>
        <p:txBody>
          <a:bodyPr wrap="square"/>
          <a:lstStyle/>
          <a:p>
            <a:pPr algn="l" marL="0"/>
            <a:r>
              <a:rPr lang="en-US" dirty="0" sz="4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Project</a:t>
            </a:r>
            <a:r>
              <a:rPr lang="en-US" dirty="0" sz="18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/>
            </a:r>
            <a:endParaRPr lang="en-US"/>
          </a:p>
          <a:p>
            <a:pPr algn="l" marL="0"/>
            <a:r>
              <a:rPr lang="en-US" dirty="0" sz="18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/>
            </a:r>
            <a:r>
              <a:rPr lang="en-US" dirty="0" sz="4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Atlas</a:t>
            </a:r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552450" y="4095750"/>
            <a:ext cx="3429000" cy="342900"/>
          </a:xfrm>
          <a:prstGeom prst="rect">
            <a:avLst/>
          </a:prstGeom>
        </p:spPr>
        <p:txBody>
          <a:bodyPr wrap="square"/>
          <a:lstStyle/>
          <a:p>
            <a:pPr algn="l" marL="0"/>
            <a:r>
              <a:rPr lang="en-US" dirty="0" sz="1500">
                <a:solidFill>
                  <a:srgbClr val="c7d2fe"/>
                </a:solidFill>
                <a:latin typeface="Calibri"/>
                <a:ea typeface="Calibri"/>
                <a:cs typeface="Calibri"/>
              </a:rPr>
              <a:t>Product Overview</a:t>
            </a:r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552450" y="4476750"/>
            <a:ext cx="3429000" cy="285750"/>
          </a:xfrm>
          <a:prstGeom prst="rect">
            <a:avLst/>
          </a:prstGeom>
        </p:spPr>
        <p:txBody>
          <a:bodyPr wrap="square"/>
          <a:lstStyle/>
          <a:p>
            <a:pPr algn="l" marL="0"/>
            <a:r>
              <a:rPr lang="en-US" dirty="0" sz="1200">
                <a:solidFill>
                  <a:srgbClr val="a5b4fc"/>
                </a:solidFill>
                <a:latin typeface="Calibri"/>
                <a:ea typeface="Calibri"/>
                <a:cs typeface="Calibri"/>
              </a:rPr>
              <a:t>Q2 2026</a:t>
            </a:r>
            <a:endParaRPr lang="en-US"/>
          </a:p>
        </p:txBody>
      </p:sp>
      <p:sp>
        <p:nvSpPr>
          <p:cNvPr id="5" name="Rectangle 5"/>
          <p:cNvSpPr txBox="0"/>
          <p:nvPr/>
        </p:nvSpPr>
        <p:spPr>
          <a:xfrm>
            <a:off x="5810250" y="1238250"/>
            <a:ext cx="1428750" cy="1428750"/>
          </a:xfrm>
          <a:prstGeom prst="roundRect">
            <a:avLst/>
          </a:prstGeom>
          <a:solidFill>
            <a:srgbClr val="a5b4fc"/>
          </a:solidFill>
        </p:spPr>
        <p:txBody>
          <a:bodyPr wrap="square"/>
          <a:lstStyle/>
          <a:p>
            <a:pPr/>
            <a:r>
              <a:rPr lang="en-US" dirty="0"/>
              <a:t/>
            </a:r>
            <a:endParaRPr lang="en-US"/>
          </a:p>
        </p:txBody>
      </p:sp>
      <p:sp>
        <p:nvSpPr>
          <p:cNvPr id="6" name="Rectangle 6"/>
          <p:cNvSpPr txBox="0"/>
          <p:nvPr/>
        </p:nvSpPr>
        <p:spPr>
          <a:xfrm>
            <a:off x="7486650" y="1238250"/>
            <a:ext cx="1428750" cy="1428750"/>
          </a:xfrm>
          <a:prstGeom prst="roundRect">
            <a:avLst/>
          </a:prstGeom>
          <a:solidFill>
            <a:srgbClr val="818cf8"/>
          </a:solidFill>
        </p:spPr>
        <p:txBody>
          <a:bodyPr wrap="square"/>
          <a:lstStyle/>
          <a:p>
            <a:pPr/>
            <a:r>
              <a:rPr lang="en-US" dirty="0"/>
              <a:t/>
            </a:r>
            <a:endParaRPr lang="en-US"/>
          </a:p>
        </p:txBody>
      </p:sp>
      <p:sp>
        <p:nvSpPr>
          <p:cNvPr id="7" name="Rectangle 7"/>
          <p:cNvSpPr txBox="0"/>
          <p:nvPr/>
        </p:nvSpPr>
        <p:spPr>
          <a:xfrm>
            <a:off x="9163050" y="1238250"/>
            <a:ext cx="1428750" cy="1428750"/>
          </a:xfrm>
          <a:prstGeom prst="roundRect">
            <a:avLst/>
          </a:prstGeom>
          <a:solidFill>
            <a:srgbClr val="6366f1"/>
          </a:solidFill>
        </p:spPr>
        <p:txBody>
          <a:bodyPr wrap="square"/>
          <a:lstStyle/>
          <a:p>
            <a:pPr/>
            <a:r>
              <a:rPr lang="en-US" dirty="0"/>
              <a:t/>
            </a:r>
            <a:endParaRPr lang="en-US"/>
          </a:p>
        </p:txBody>
      </p:sp>
      <p:sp>
        <p:nvSpPr>
          <p:cNvPr id="8" name="Rectangle 8"/>
          <p:cNvSpPr txBox="0"/>
          <p:nvPr/>
        </p:nvSpPr>
        <p:spPr>
          <a:xfrm>
            <a:off x="5810250" y="2914650"/>
            <a:ext cx="1428750" cy="1428750"/>
          </a:xfrm>
          <a:prstGeom prst="roundRect">
            <a:avLst/>
          </a:prstGeom>
          <a:solidFill>
            <a:srgbClr val="818cf8"/>
          </a:solidFill>
        </p:spPr>
        <p:txBody>
          <a:bodyPr wrap="square"/>
          <a:lstStyle/>
          <a:p>
            <a:pPr/>
            <a:r>
              <a:rPr lang="en-US" dirty="0"/>
              <a:t/>
            </a:r>
            <a:endParaRPr lang="en-US"/>
          </a:p>
        </p:txBody>
      </p:sp>
      <p:sp>
        <p:nvSpPr>
          <p:cNvPr id="9" name="Rectangle 9"/>
          <p:cNvSpPr txBox="0"/>
          <p:nvPr/>
        </p:nvSpPr>
        <p:spPr>
          <a:xfrm>
            <a:off x="7486650" y="2914650"/>
            <a:ext cx="1428750" cy="1428750"/>
          </a:xfrm>
          <a:prstGeom prst="roundRect">
            <a:avLst/>
          </a:prstGeom>
          <a:solidFill>
            <a:srgbClr val="6366f1"/>
          </a:solidFill>
        </p:spPr>
        <p:txBody>
          <a:bodyPr wrap="square"/>
          <a:lstStyle/>
          <a:p>
            <a:pPr/>
            <a:r>
              <a:rPr lang="en-US" dirty="0"/>
              <a:t/>
            </a:r>
            <a:endParaRPr lang="en-US"/>
          </a:p>
        </p:txBody>
      </p:sp>
      <p:sp>
        <p:nvSpPr>
          <p:cNvPr id="10" name="Rectangle 10"/>
          <p:cNvSpPr txBox="0"/>
          <p:nvPr/>
        </p:nvSpPr>
        <p:spPr>
          <a:xfrm>
            <a:off x="9163050" y="2914650"/>
            <a:ext cx="1428750" cy="1428750"/>
          </a:xfrm>
          <a:prstGeom prst="roundRect">
            <a:avLst/>
          </a:prstGeom>
          <a:solidFill>
            <a:srgbClr val="f59e0b"/>
          </a:solidFill>
        </p:spPr>
        <p:txBody>
          <a:bodyPr wrap="square"/>
          <a:lstStyle/>
          <a:p>
            <a:pPr/>
            <a:r>
              <a:rPr lang="en-US" dirty="0"/>
              <a:t/>
            </a:r>
            <a:endParaRPr lang="en-US"/>
          </a:p>
        </p:txBody>
      </p:sp>
      <p:sp>
        <p:nvSpPr>
          <p:cNvPr id="11" name="Rectangle 11"/>
          <p:cNvSpPr txBox="0"/>
          <p:nvPr/>
        </p:nvSpPr>
        <p:spPr>
          <a:xfrm>
            <a:off x="5810250" y="4591050"/>
            <a:ext cx="1428750" cy="1428750"/>
          </a:xfrm>
          <a:prstGeom prst="roundRect">
            <a:avLst/>
          </a:prstGeom>
          <a:solidFill>
            <a:srgbClr val="6366f1"/>
          </a:solidFill>
        </p:spPr>
        <p:txBody>
          <a:bodyPr wrap="square"/>
          <a:lstStyle/>
          <a:p>
            <a:pPr/>
            <a:r>
              <a:rPr lang="en-US" dirty="0"/>
              <a:t/>
            </a:r>
            <a:endParaRPr lang="en-US"/>
          </a:p>
        </p:txBody>
      </p:sp>
      <p:sp>
        <p:nvSpPr>
          <p:cNvPr id="12" name="Rectangle 12"/>
          <p:cNvSpPr txBox="0"/>
          <p:nvPr/>
        </p:nvSpPr>
        <p:spPr>
          <a:xfrm>
            <a:off x="7486650" y="4591050"/>
            <a:ext cx="1428750" cy="1428750"/>
          </a:xfrm>
          <a:prstGeom prst="roundRect">
            <a:avLst/>
          </a:prstGeom>
          <a:solidFill>
            <a:srgbClr val="4f46e5"/>
          </a:solidFill>
        </p:spPr>
        <p:txBody>
          <a:bodyPr wrap="square"/>
          <a:lstStyle/>
          <a:p>
            <a:pPr/>
            <a:r>
              <a:rPr lang="en-US" dirty="0"/>
              <a:t/>
            </a:r>
            <a:endParaRPr lang="en-US"/>
          </a:p>
        </p:txBody>
      </p:sp>
      <p:sp>
        <p:nvSpPr>
          <p:cNvPr id="13" name="Rectangle 13"/>
          <p:cNvSpPr txBox="0"/>
          <p:nvPr/>
        </p:nvSpPr>
        <p:spPr>
          <a:xfrm>
            <a:off x="9163050" y="4591050"/>
            <a:ext cx="1428750" cy="1428750"/>
          </a:xfrm>
          <a:prstGeom prst="roundRect">
            <a:avLst/>
          </a:prstGeom>
          <a:solidFill>
            <a:srgbClr val="818cf8"/>
          </a:solidFill>
        </p:spPr>
        <p:txBody>
          <a:bodyPr wrap="square"/>
          <a:lstStyle/>
          <a:p>
            <a:pPr/>
            <a:r>
              <a:rPr lang="en-US" dirty="0"/>
              <a:t/>
            </a:r>
            <a:endParaRPr lang="en-US"/>
          </a:p>
        </p:txBody>
      </p:sp>
      <p:sp>
        <p:nvSpPr>
          <p:cNvPr id="64" name="TextBox 64"/>
          <p:cNvSpPr txBox="1"/>
          <p:nvPr/>
        </p:nvSpPr>
        <p:spPr>
          <a:xfrm>
            <a:off x="4762500" y="285750"/>
            <a:ext cx="571500" cy="1905000"/>
          </a:xfrm>
          <a:prstGeom prst="rect">
            <a:avLst/>
          </a:prstGeom>
        </p:spPr>
        <p:txBody>
          <a:bodyPr wrap="square" vert="vert"/>
          <a:lstStyle/>
          <a:p>
            <a:pPr algn="l" marL="0"/>
            <a:r>
              <a:rPr lang="en-US" dirty="0" sz="4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Vertical text</a:t>
            </a:r>
            <a:endParaRPr lang="en-US"/>
          </a:p>
        </p:txBody>
      </p:sp>
      <p:sp>
        <p:nvSpPr>
          <p:cNvPr id="65" name="TextBox 65"/>
          <p:cNvSpPr txBox="1"/>
          <p:nvPr/>
        </p:nvSpPr>
        <p:spPr>
          <a:xfrm>
            <a:off x="5524500" y="381000"/>
            <a:ext cx="3429000" cy="419100"/>
          </a:xfrm>
          <a:prstGeom prst="rect">
            <a:avLst/>
          </a:prstGeom>
        </p:spPr>
        <p:txBody>
          <a:bodyPr wrap="square"/>
          <a:lstStyle/>
          <a:p>
            <a:pPr algn="l" marL="0"/>
            <a:r>
              <a:rPr lang="en-US" dirty="0" sz="4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Double underline</a:t>
            </a:r>
            <a:endParaRPr lang="en-US"/>
          </a:p>
        </p:txBody>
      </p:sp>
      <p:sp>
        <p:nvSpPr>
          <p:cNvPr id="66" name="TextBox 66"/>
          <p:cNvSpPr txBox="1"/>
          <p:nvPr/>
        </p:nvSpPr>
        <p:spPr>
          <a:xfrm>
            <a:off x="5524500" y="952500"/>
            <a:ext cx="3429000" cy="419100"/>
          </a:xfrm>
          <a:prstGeom prst="rect">
            <a:avLst/>
          </a:prstGeom>
        </p:spPr>
        <p:txBody>
          <a:bodyPr wrap="square"/>
          <a:lstStyle/>
          <a:p>
            <a:pPr algn="l" marL="0"/>
            <a:r>
              <a:rPr lang="en-US" dirty="0" sz="4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Wavy underline</a:t>
            </a:r>
            <a:endParaRPr lang="en-US"/>
          </a:p>
        </p:txBody>
      </p:sp>
      <p:sp>
        <p:nvSpPr>
          <p:cNvPr id="67" name="TextBox 67"/>
          <p:cNvSpPr txBox="1"/>
          <p:nvPr/>
        </p:nvSpPr>
        <p:spPr>
          <a:xfrm>
            <a:off x="5524500" y="5905500"/>
            <a:ext cx="3619500" cy="762000"/>
          </a:xfrm>
          <a:prstGeom prst="rect">
            <a:avLst/>
          </a:prstGeom>
        </p:spPr>
        <p:txBody>
          <a:bodyPr wrap="square"/>
          <a:lstStyle/>
          <a:p>
            <a:pPr marL="0"/>
            <a:r>
              <a:rPr lang="en-US" dirty="0" sz="4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This paragraph uses distributed alignment so the words spread edge to edge</a:t>
            </a:r>
            <a:endParaRPr lang="en-US"/>
          </a:p>
        </p:txBody>
      </p:sp>
      <p:sp>
        <p:nvSpPr>
          <p:cNvPr id="68" name="TextBox 68"/>
          <p:cNvSpPr txBox="1"/>
          <p:nvPr/>
        </p:nvSpPr>
        <p:spPr>
          <a:xfrm>
            <a:off x="7810500" y="5143500"/>
            <a:ext cx="1143000" cy="285750"/>
          </a:xfrm>
          <a:prstGeom prst="rect">
            <a:avLst/>
          </a:prstGeom>
        </p:spPr>
        <p:txBody>
          <a:bodyPr wrap="square"/>
          <a:lstStyle/>
          <a:p>
            <a:pPr algn="l" marL="0"/>
            <a:r>
              <a:rPr lang="en-US" dirty="0" sz="4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Slide #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4"/>
          <p:cNvSpPr txBox="0"/>
          <p:nvPr/>
        </p:nvSpPr>
        <p:spPr>
          <a:xfrm>
            <a:off x="533400" y="666750"/>
            <a:ext cx="609600" cy="76200"/>
          </a:xfrm>
          <a:prstGeom prst="rect">
            <a:avLst/>
          </a:prstGeom>
          <a:solidFill>
            <a:srgbClr val="4f46e5"/>
          </a:solidFill>
        </p:spPr>
        <p:txBody>
          <a:bodyPr wrap="square"/>
          <a:lstStyle/>
          <a:p>
            <a:pPr/>
            <a:r>
              <a:rPr lang="en-US" dirty="0"/>
              <a:t/>
            </a:r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533400" y="876300"/>
            <a:ext cx="6667500" cy="571500"/>
          </a:xfrm>
          <a:prstGeom prst="rect">
            <a:avLst/>
          </a:prstGeom>
        </p:spPr>
        <p:txBody>
          <a:bodyPr wrap="square"/>
          <a:lstStyle/>
          <a:p>
            <a:pPr algn="l" marL="0"/>
            <a:r>
              <a:rPr lang="en-US" dirty="0" sz="30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Agenda</a:t>
            </a:r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609600" y="1905000"/>
            <a:ext cx="8572500" cy="419100"/>
          </a:xfrm>
          <a:prstGeom prst="rect">
            <a:avLst/>
          </a:prstGeom>
        </p:spPr>
        <p:txBody>
          <a:bodyPr wrap="square"/>
          <a:lstStyle/>
          <a:p>
            <a:pPr algn="l" marL="0"/>
            <a:r>
              <a:rPr lang="en-US" dirty="0" sz="16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1.  Where we are today</a:t>
            </a:r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609600" y="2571750"/>
            <a:ext cx="8572500" cy="419100"/>
          </a:xfrm>
          <a:prstGeom prst="rect">
            <a:avLst/>
          </a:prstGeom>
        </p:spPr>
        <p:txBody>
          <a:bodyPr wrap="square"/>
          <a:lstStyle/>
          <a:p>
            <a:pPr algn="l" marL="0"/>
            <a:r>
              <a:rPr lang="en-US" dirty="0" sz="16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2.  Product highlights</a:t>
            </a:r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609600" y="3238500"/>
            <a:ext cx="8572500" cy="419100"/>
          </a:xfrm>
          <a:prstGeom prst="rect">
            <a:avLst/>
          </a:prstGeom>
        </p:spPr>
        <p:txBody>
          <a:bodyPr wrap="square"/>
          <a:lstStyle/>
          <a:p>
            <a:pPr algn="l" marL="0"/>
            <a:r>
              <a:rPr lang="en-US" dirty="0" sz="16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3.  Quarterly growth</a:t>
            </a:r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609600" y="3905250"/>
            <a:ext cx="8572500" cy="419100"/>
          </a:xfrm>
          <a:prstGeom prst="rect">
            <a:avLst/>
          </a:prstGeom>
        </p:spPr>
        <p:txBody>
          <a:bodyPr wrap="square"/>
          <a:lstStyle/>
          <a:p>
            <a:pPr algn="l" marL="0"/>
            <a:r>
              <a:rPr lang="en-US" dirty="0" sz="16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4.  Platform architecture</a:t>
            </a:r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609600" y="4572000"/>
            <a:ext cx="8572500" cy="419100"/>
          </a:xfrm>
          <a:prstGeom prst="rect">
            <a:avLst/>
          </a:prstGeom>
        </p:spPr>
        <p:txBody>
          <a:bodyPr wrap="square"/>
          <a:lstStyle/>
          <a:p>
            <a:pPr algn="l" marL="0"/>
            <a:r>
              <a:rPr lang="en-US" dirty="0" sz="165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5.  Roadmap &amp;amp; next steps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1"/>
          <p:cNvSpPr txBox="0"/>
          <p:nvPr/>
        </p:nvSpPr>
        <p:spPr>
          <a:xfrm>
            <a:off x="533400" y="666750"/>
            <a:ext cx="609600" cy="76200"/>
          </a:xfrm>
          <a:prstGeom prst="rect">
            <a:avLst/>
          </a:prstGeom>
          <a:solidFill>
            <a:srgbClr val="4f46e5"/>
          </a:solidFill>
        </p:spPr>
        <p:txBody>
          <a:bodyPr wrap="square"/>
          <a:lstStyle/>
          <a:p>
            <a:pPr/>
            <a:r>
              <a:rPr lang="en-US" dirty="0"/>
              <a:t/>
            </a:r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533400" y="876300"/>
            <a:ext cx="8572500" cy="571500"/>
          </a:xfrm>
          <a:prstGeom prst="rect">
            <a:avLst/>
          </a:prstGeom>
        </p:spPr>
        <p:txBody>
          <a:bodyPr wrap="square"/>
          <a:lstStyle/>
          <a:p>
            <a:pPr algn="l" marL="0"/>
            <a:r>
              <a:rPr lang="en-US" dirty="0" sz="30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Quarterly Growth</a:t>
            </a:r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552450" y="1485900"/>
            <a:ext cx="8572500" cy="285750"/>
          </a:xfrm>
          <a:prstGeom prst="rect">
            <a:avLst/>
          </a:prstGeom>
        </p:spPr>
        <p:txBody>
          <a:bodyPr wrap="square"/>
          <a:lstStyle/>
          <a:p>
            <a:pPr algn="l" marL="0"/>
            <a:r>
              <a:rPr lang="en-US" dirty="0" sz="12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Active users (thousands), by quarter</a:t>
            </a:r>
            <a:endParaRPr lang="en-US"/>
          </a:p>
        </p:txBody>
      </p:sp>
      <p:sp>
        <p:nvSpPr>
          <p:cNvPr id="24" name="Rectangle 24"/>
          <p:cNvSpPr txBox="0"/>
          <p:nvPr/>
        </p:nvSpPr>
        <p:spPr>
          <a:xfrm>
            <a:off x="2428875" y="5905500"/>
            <a:ext cx="7620000" cy="28575"/>
          </a:xfrm>
          <a:prstGeom prst="rect">
            <a:avLst/>
          </a:prstGeom>
          <a:solidFill>
            <a:srgbClr val="e2e8f0"/>
          </a:solidFill>
        </p:spPr>
        <p:txBody>
          <a:bodyPr wrap="square"/>
          <a:lstStyle/>
          <a:p>
            <a:pPr/>
            <a:r>
              <a:rPr lang="en-US" dirty="0"/>
              <a:t/>
            </a:r>
            <a:endParaRPr lang="en-US"/>
          </a:p>
        </p:txBody>
      </p:sp>
      <p:sp>
        <p:nvSpPr>
          <p:cNvPr id="25" name="Rectangle 25"/>
          <p:cNvSpPr txBox="0"/>
          <p:nvPr/>
        </p:nvSpPr>
        <p:spPr>
          <a:xfrm>
            <a:off x="2619375" y="4400550"/>
            <a:ext cx="1238250" cy="1504950"/>
          </a:xfrm>
          <a:prstGeom prst="roundRect">
            <a:avLst/>
          </a:prstGeom>
          <a:solidFill>
            <a:srgbClr val="a5b4fc"/>
          </a:solidFill>
        </p:spPr>
        <p:txBody>
          <a:bodyPr wrap="square"/>
          <a:lstStyle/>
          <a:p>
            <a:pPr/>
            <a:r>
              <a:rPr lang="en-US" dirty="0"/>
              <a:t/>
            </a:r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2619375" y="4019550"/>
            <a:ext cx="1238250" cy="285750"/>
          </a:xfrm>
          <a:prstGeom prst="rect">
            <a:avLst/>
          </a:prstGeom>
        </p:spPr>
        <p:txBody>
          <a:bodyPr wrap="square"/>
          <a:lstStyle/>
          <a:p>
            <a:pPr algn="ctr" marL="0"/>
            <a:r>
              <a:rPr lang="en-US" dirty="0"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42</a:t>
            </a:r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2619375" y="6038850"/>
            <a:ext cx="1238250" cy="266700"/>
          </a:xfrm>
          <a:prstGeom prst="rect">
            <a:avLst/>
          </a:prstGeom>
        </p:spPr>
        <p:txBody>
          <a:bodyPr wrap="square"/>
          <a:lstStyle/>
          <a:p>
            <a:pPr algn="ctr" marL="0"/>
            <a:r>
              <a:rPr lang="en-US" dirty="0" sz="12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Q1</a:t>
            </a:r>
            <a:endParaRPr lang="en-US"/>
          </a:p>
        </p:txBody>
      </p:sp>
      <p:sp>
        <p:nvSpPr>
          <p:cNvPr id="28" name="Rectangle 28"/>
          <p:cNvSpPr txBox="0"/>
          <p:nvPr/>
        </p:nvSpPr>
        <p:spPr>
          <a:xfrm>
            <a:off x="4524375" y="3829050"/>
            <a:ext cx="1238250" cy="2076450"/>
          </a:xfrm>
          <a:prstGeom prst="roundRect">
            <a:avLst/>
          </a:prstGeom>
          <a:solidFill>
            <a:srgbClr val="818cf8"/>
          </a:solidFill>
        </p:spPr>
        <p:txBody>
          <a:bodyPr wrap="square"/>
          <a:lstStyle/>
          <a:p>
            <a:pPr/>
            <a:r>
              <a:rPr lang="en-US" dirty="0"/>
              <a:t/>
            </a:r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4524375" y="3448050"/>
            <a:ext cx="1238250" cy="285750"/>
          </a:xfrm>
          <a:prstGeom prst="rect">
            <a:avLst/>
          </a:prstGeom>
        </p:spPr>
        <p:txBody>
          <a:bodyPr wrap="square"/>
          <a:lstStyle/>
          <a:p>
            <a:pPr algn="ctr" marL="0"/>
            <a:r>
              <a:rPr lang="en-US" dirty="0"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58</a:t>
            </a:r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4524375" y="6038850"/>
            <a:ext cx="1238250" cy="266700"/>
          </a:xfrm>
          <a:prstGeom prst="rect">
            <a:avLst/>
          </a:prstGeom>
        </p:spPr>
        <p:txBody>
          <a:bodyPr wrap="square"/>
          <a:lstStyle/>
          <a:p>
            <a:pPr algn="ctr" marL="0"/>
            <a:r>
              <a:rPr lang="en-US" dirty="0" sz="12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Q2</a:t>
            </a:r>
            <a:endParaRPr lang="en-US"/>
          </a:p>
        </p:txBody>
      </p:sp>
      <p:sp>
        <p:nvSpPr>
          <p:cNvPr id="31" name="Rectangle 31"/>
          <p:cNvSpPr txBox="0"/>
          <p:nvPr/>
        </p:nvSpPr>
        <p:spPr>
          <a:xfrm>
            <a:off x="6429375" y="3371850"/>
            <a:ext cx="1238250" cy="2533650"/>
          </a:xfrm>
          <a:prstGeom prst="roundRect">
            <a:avLst/>
          </a:prstGeom>
          <a:solidFill>
            <a:srgbClr val="6366f1"/>
          </a:solidFill>
        </p:spPr>
        <p:txBody>
          <a:bodyPr wrap="square"/>
          <a:lstStyle/>
          <a:p>
            <a:pPr/>
            <a:r>
              <a:rPr lang="en-US" dirty="0"/>
              <a:t/>
            </a:r>
            <a:endParaRPr lang="en-US"/>
          </a:p>
        </p:txBody>
      </p:sp>
      <p:sp>
        <p:nvSpPr>
          <p:cNvPr id="32" name="TextBox 32"/>
          <p:cNvSpPr txBox="1"/>
          <p:nvPr/>
        </p:nvSpPr>
        <p:spPr>
          <a:xfrm>
            <a:off x="6429375" y="2990850"/>
            <a:ext cx="1238250" cy="285750"/>
          </a:xfrm>
          <a:prstGeom prst="rect">
            <a:avLst/>
          </a:prstGeom>
        </p:spPr>
        <p:txBody>
          <a:bodyPr wrap="square"/>
          <a:lstStyle/>
          <a:p>
            <a:pPr algn="ctr" marL="0"/>
            <a:r>
              <a:rPr lang="en-US" dirty="0"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71</a:t>
            </a:r>
            <a:endParaRPr lang="en-US"/>
          </a:p>
        </p:txBody>
      </p:sp>
      <p:sp>
        <p:nvSpPr>
          <p:cNvPr id="33" name="TextBox 33"/>
          <p:cNvSpPr txBox="1"/>
          <p:nvPr/>
        </p:nvSpPr>
        <p:spPr>
          <a:xfrm>
            <a:off x="6429375" y="6038850"/>
            <a:ext cx="1238250" cy="266700"/>
          </a:xfrm>
          <a:prstGeom prst="rect">
            <a:avLst/>
          </a:prstGeom>
        </p:spPr>
        <p:txBody>
          <a:bodyPr wrap="square"/>
          <a:lstStyle/>
          <a:p>
            <a:pPr algn="ctr" marL="0"/>
            <a:r>
              <a:rPr lang="en-US" dirty="0" sz="12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Q3</a:t>
            </a:r>
            <a:endParaRPr lang="en-US"/>
          </a:p>
        </p:txBody>
      </p:sp>
      <p:sp>
        <p:nvSpPr>
          <p:cNvPr id="34" name="Rectangle 34"/>
          <p:cNvSpPr txBox="0"/>
          <p:nvPr/>
        </p:nvSpPr>
        <p:spPr>
          <a:xfrm>
            <a:off x="8334375" y="2476500"/>
            <a:ext cx="1238250" cy="3429000"/>
          </a:xfrm>
          <a:prstGeom prst="roundRect">
            <a:avLst/>
          </a:prstGeom>
          <a:solidFill>
            <a:srgbClr val="4f46e5"/>
          </a:solidFill>
        </p:spPr>
        <p:txBody>
          <a:bodyPr wrap="square"/>
          <a:lstStyle/>
          <a:p>
            <a:pPr/>
            <a:r>
              <a:rPr lang="en-US" dirty="0"/>
              <a:t/>
            </a:r>
            <a:endParaRPr lang="en-US"/>
          </a:p>
        </p:txBody>
      </p:sp>
      <p:sp>
        <p:nvSpPr>
          <p:cNvPr id="35" name="TextBox 35"/>
          <p:cNvSpPr txBox="1"/>
          <p:nvPr/>
        </p:nvSpPr>
        <p:spPr>
          <a:xfrm>
            <a:off x="8334375" y="2095500"/>
            <a:ext cx="1238250" cy="285750"/>
          </a:xfrm>
          <a:prstGeom prst="rect">
            <a:avLst/>
          </a:prstGeom>
        </p:spPr>
        <p:txBody>
          <a:bodyPr wrap="square"/>
          <a:lstStyle/>
          <a:p>
            <a:pPr algn="ctr" marL="0"/>
            <a:r>
              <a:rPr lang="en-US" dirty="0"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96</a:t>
            </a:r>
            <a:endParaRPr lang="en-US"/>
          </a:p>
        </p:txBody>
      </p:sp>
      <p:sp>
        <p:nvSpPr>
          <p:cNvPr id="36" name="TextBox 36"/>
          <p:cNvSpPr txBox="1"/>
          <p:nvPr/>
        </p:nvSpPr>
        <p:spPr>
          <a:xfrm>
            <a:off x="8334375" y="6038850"/>
            <a:ext cx="1238250" cy="266700"/>
          </a:xfrm>
          <a:prstGeom prst="rect">
            <a:avLst/>
          </a:prstGeom>
        </p:spPr>
        <p:txBody>
          <a:bodyPr wrap="square"/>
          <a:lstStyle/>
          <a:p>
            <a:pPr algn="ctr" marL="0"/>
            <a:r>
              <a:rPr lang="en-US" dirty="0" sz="120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Q4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7"/>
          <p:cNvSpPr txBox="0"/>
          <p:nvPr/>
        </p:nvSpPr>
        <p:spPr>
          <a:xfrm>
            <a:off x="533400" y="666750"/>
            <a:ext cx="609600" cy="76200"/>
          </a:xfrm>
          <a:prstGeom prst="rect">
            <a:avLst/>
          </a:prstGeom>
          <a:solidFill>
            <a:srgbClr val="4f46e5"/>
          </a:solidFill>
        </p:spPr>
        <p:txBody>
          <a:bodyPr wrap="square"/>
          <a:lstStyle/>
          <a:p>
            <a:pPr/>
            <a:r>
              <a:rPr lang="en-US" dirty="0"/>
              <a:t/>
            </a:r>
            <a:endParaRPr lang="en-US"/>
          </a:p>
        </p:txBody>
      </p:sp>
      <p:sp>
        <p:nvSpPr>
          <p:cNvPr id="38" name="TextBox 38"/>
          <p:cNvSpPr txBox="1"/>
          <p:nvPr/>
        </p:nvSpPr>
        <p:spPr>
          <a:xfrm>
            <a:off x="533400" y="876300"/>
            <a:ext cx="9525000" cy="571500"/>
          </a:xfrm>
          <a:prstGeom prst="rect">
            <a:avLst/>
          </a:prstGeom>
        </p:spPr>
        <p:txBody>
          <a:bodyPr wrap="square"/>
          <a:lstStyle/>
          <a:p>
            <a:pPr algn="l" marL="0"/>
            <a:r>
              <a:rPr lang="en-US" dirty="0" sz="30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Platform Architecture</a:t>
            </a:r>
            <a:endParaRPr lang="en-US"/>
          </a:p>
        </p:txBody>
      </p:sp>
      <p:sp>
        <p:nvSpPr>
          <p:cNvPr id="39" name="Rectangle 39"/>
          <p:cNvSpPr txBox="0"/>
          <p:nvPr/>
        </p:nvSpPr>
        <p:spPr>
          <a:xfrm>
            <a:off x="762000" y="3048000"/>
            <a:ext cx="2381250" cy="1428750"/>
          </a:xfrm>
          <a:prstGeom prst="roundRect">
            <a:avLst/>
          </a:prstGeom>
          <a:solidFill>
            <a:srgbClr val="818cf8"/>
          </a:solidFill>
        </p:spPr>
        <p:txBody>
          <a:bodyPr wrap="square" anchor="ctr"/>
          <a:lstStyle/>
          <a:p>
            <a:pPr algn="ctr" marL="0"/>
            <a:r>
              <a:rPr lang="en-US" dirty="0"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Client Apps</a:t>
            </a:r>
            <a:endParaRPr lang="en-US"/>
          </a:p>
        </p:txBody>
      </p:sp>
      <p:sp>
        <p:nvSpPr>
          <p:cNvPr id="40" name="Rectangle 40"/>
          <p:cNvSpPr txBox="0"/>
          <p:nvPr/>
        </p:nvSpPr>
        <p:spPr>
          <a:xfrm>
            <a:off x="3162300" y="3609975"/>
            <a:ext cx="342900" cy="304800"/>
          </a:xfrm>
          <a:prstGeom prst="rightArrow">
            <a:avLst/>
          </a:prstGeom>
          <a:solidFill>
            <a:srgbClr val="a5b4fc"/>
          </a:solidFill>
        </p:spPr>
        <p:txBody>
          <a:bodyPr wrap="square"/>
          <a:lstStyle/>
          <a:p>
            <a:pPr/>
            <a:r>
              <a:rPr lang="en-US" dirty="0"/>
              <a:t/>
            </a:r>
            <a:endParaRPr lang="en-US"/>
          </a:p>
        </p:txBody>
      </p:sp>
      <p:sp>
        <p:nvSpPr>
          <p:cNvPr id="41" name="Rectangle 41"/>
          <p:cNvSpPr txBox="0"/>
          <p:nvPr/>
        </p:nvSpPr>
        <p:spPr>
          <a:xfrm>
            <a:off x="3524250" y="3048000"/>
            <a:ext cx="2381250" cy="1428750"/>
          </a:xfrm>
          <a:prstGeom prst="roundRect">
            <a:avLst/>
          </a:prstGeom>
          <a:solidFill>
            <a:srgbClr val="6366f1"/>
          </a:solidFill>
        </p:spPr>
        <p:txBody>
          <a:bodyPr wrap="square" anchor="ctr"/>
          <a:lstStyle/>
          <a:p>
            <a:pPr algn="ctr" marL="0"/>
            <a:r>
              <a:rPr lang="en-US" dirty="0"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API Gateway</a:t>
            </a:r>
            <a:endParaRPr lang="en-US"/>
          </a:p>
        </p:txBody>
      </p:sp>
      <p:sp>
        <p:nvSpPr>
          <p:cNvPr id="42" name="Rectangle 42"/>
          <p:cNvSpPr txBox="0"/>
          <p:nvPr/>
        </p:nvSpPr>
        <p:spPr>
          <a:xfrm>
            <a:off x="5924550" y="3609975"/>
            <a:ext cx="342900" cy="304800"/>
          </a:xfrm>
          <a:prstGeom prst="rightArrow">
            <a:avLst/>
          </a:prstGeom>
          <a:solidFill>
            <a:srgbClr val="a5b4fc"/>
          </a:solidFill>
        </p:spPr>
        <p:txBody>
          <a:bodyPr wrap="square"/>
          <a:lstStyle/>
          <a:p>
            <a:pPr/>
            <a:r>
              <a:rPr lang="en-US" dirty="0"/>
              <a:t/>
            </a:r>
            <a:endParaRPr lang="en-US"/>
          </a:p>
        </p:txBody>
      </p:sp>
      <p:sp>
        <p:nvSpPr>
          <p:cNvPr id="43" name="Rectangle 43"/>
          <p:cNvSpPr txBox="0"/>
          <p:nvPr/>
        </p:nvSpPr>
        <p:spPr>
          <a:xfrm>
            <a:off x="6286500" y="3048000"/>
            <a:ext cx="2381250" cy="1428750"/>
          </a:xfrm>
          <a:prstGeom prst="roundRect">
            <a:avLst/>
          </a:prstGeom>
          <a:solidFill>
            <a:srgbClr val="4f46e5"/>
          </a:solidFill>
        </p:spPr>
        <p:txBody>
          <a:bodyPr wrap="square" anchor="ctr"/>
          <a:lstStyle/>
          <a:p>
            <a:pPr algn="ctr" marL="0"/>
            <a:r>
              <a:rPr lang="en-US" dirty="0"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Services</a:t>
            </a:r>
            <a:endParaRPr lang="en-US"/>
          </a:p>
        </p:txBody>
      </p:sp>
      <p:sp>
        <p:nvSpPr>
          <p:cNvPr id="44" name="Rectangle 44"/>
          <p:cNvSpPr txBox="0"/>
          <p:nvPr/>
        </p:nvSpPr>
        <p:spPr>
          <a:xfrm>
            <a:off x="8686800" y="3609975"/>
            <a:ext cx="342900" cy="304800"/>
          </a:xfrm>
          <a:prstGeom prst="rightArrow">
            <a:avLst/>
          </a:prstGeom>
          <a:solidFill>
            <a:srgbClr val="a5b4fc"/>
          </a:solidFill>
        </p:spPr>
        <p:txBody>
          <a:bodyPr wrap="square"/>
          <a:lstStyle/>
          <a:p>
            <a:pPr/>
            <a:r>
              <a:rPr lang="en-US" dirty="0"/>
              <a:t/>
            </a:r>
            <a:endParaRPr lang="en-US"/>
          </a:p>
        </p:txBody>
      </p:sp>
      <p:sp>
        <p:nvSpPr>
          <p:cNvPr id="45" name="Rectangle 45"/>
          <p:cNvSpPr txBox="0"/>
          <p:nvPr/>
        </p:nvSpPr>
        <p:spPr>
          <a:xfrm>
            <a:off x="9048750" y="3048000"/>
            <a:ext cx="2381250" cy="1428750"/>
          </a:xfrm>
          <a:prstGeom prst="roundRect">
            <a:avLst/>
          </a:prstGeom>
          <a:solidFill>
            <a:srgbClr val="0f172a"/>
          </a:solidFill>
        </p:spPr>
        <p:txBody>
          <a:bodyPr wrap="square" anchor="ctr"/>
          <a:lstStyle/>
          <a:p>
            <a:pPr algn="ctr" marL="0"/>
            <a:r>
              <a:rPr lang="en-US" dirty="0"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 Layer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a16="http://schemas.microsoft.com/office/drawing/2014/main" xmlns:mc="http://schemas.openxmlformats.org/markup-compatibility/2006" mc:Ignorable="a16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6"/>
          <p:cNvSpPr txBox="0"/>
          <p:nvPr/>
        </p:nvSpPr>
        <p:spPr>
          <a:xfrm>
            <a:off x="533400" y="666750"/>
            <a:ext cx="609600" cy="76200"/>
          </a:xfrm>
          <a:prstGeom prst="rect">
            <a:avLst/>
          </a:prstGeom>
          <a:solidFill>
            <a:srgbClr val="4f46e5"/>
          </a:solidFill>
        </p:spPr>
        <p:txBody>
          <a:bodyPr wrap="square"/>
          <a:lstStyle/>
          <a:p>
            <a:pPr/>
            <a:r>
              <a:rPr lang="en-US" dirty="0"/>
              <a:t/>
            </a:r>
            <a:endParaRPr lang="en-US"/>
          </a:p>
        </p:txBody>
      </p:sp>
      <p:sp>
        <p:nvSpPr>
          <p:cNvPr id="47" name="TextBox 47"/>
          <p:cNvSpPr txBox="1"/>
          <p:nvPr/>
        </p:nvSpPr>
        <p:spPr>
          <a:xfrm>
            <a:off x="533400" y="876300"/>
            <a:ext cx="6667500" cy="571500"/>
          </a:xfrm>
          <a:prstGeom prst="rect">
            <a:avLst/>
          </a:prstGeom>
        </p:spPr>
        <p:txBody>
          <a:bodyPr wrap="square"/>
          <a:lstStyle/>
          <a:p>
            <a:pPr algn="l" marL="0"/>
            <a:r>
              <a:rPr lang="en-US" dirty="0" sz="30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Plans</a:t>
            </a:r>
            <a:endParaRPr lang="en-US"/>
          </a:p>
        </p:txBody>
      </p:sp>
      <p:graphicFrame>
        <p:nvGraphicFramePr>
          <p:cNvPr id="48" name="Table"/>
          <p:cNvGraphicFramePr>
            <a:graphicFrameLocks noGrp="1"/>
          </p:cNvGraphicFramePr>
          <p:nvPr/>
        </p:nvGraphicFramePr>
        <p:xfrm>
          <a:off x="762000" y="1905000"/>
          <a:ext cx="106680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val="848969692"/>
                    </a:ext>
                  </a:extLst>
                </a:gridCol>
                <a:gridCol w="2286000">
                  <a:extLst>
                    <a:ext uri="{9D8B030D-6E8A-4147-A177-3AD203B41FA5}">
                      <a16:colId val="2517645534"/>
                    </a:ext>
                  </a:extLst>
                </a:gridCol>
                <a:gridCol w="2286000">
                  <a:extLst>
                    <a:ext uri="{9D8B030D-6E8A-4147-A177-3AD203B41FA5}">
                      <a16:colId val="1972897697"/>
                    </a:ext>
                  </a:extLst>
                </a:gridCol>
                <a:gridCol w="2286000">
                  <a:extLst>
                    <a:ext uri="{9D8B030D-6E8A-4147-A177-3AD203B41FA5}">
                      <a16:colId val="215357918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Starter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Team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Enterprise</a:t>
                      </a:r>
                      <a:endParaRPr lang="en-US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/>
                        <a:t>Projects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Unlimited</a:t>
                      </a:r>
                      <a:endParaRPr lang="en-US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/>
                        <a:t>Collaborators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Unlimited</a:t>
                      </a:r>
                      <a:endParaRPr lang="en-US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/>
                        <a:t>Export formats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PDF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PDF, PNG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</a:t>
                      </a:r>
                      <a:endParaRPr lang="en-US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/>
                        <a:t>Support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Community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Email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 / 7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8"/>
          <p:cNvSpPr txBox="0"/>
          <p:nvPr/>
        </p:nvSpPr>
        <p:spPr>
          <a:xfrm>
            <a:off x="533400" y="666750"/>
            <a:ext cx="609600" cy="76200"/>
          </a:xfrm>
          <a:prstGeom prst="rect">
            <a:avLst/>
          </a:prstGeom>
          <a:solidFill>
            <a:srgbClr val="4f46e5"/>
          </a:solidFill>
        </p:spPr>
        <p:txBody>
          <a:bodyPr wrap="square"/>
          <a:lstStyle/>
          <a:p>
            <a:pPr/>
            <a:r>
              <a:rPr lang="en-US" dirty="0"/>
              <a:t/>
            </a:r>
            <a:endParaRPr lang="en-US"/>
          </a:p>
        </p:txBody>
      </p:sp>
      <p:sp>
        <p:nvSpPr>
          <p:cNvPr id="49" name="TextBox 49"/>
          <p:cNvSpPr txBox="1"/>
          <p:nvPr/>
        </p:nvSpPr>
        <p:spPr>
          <a:xfrm>
            <a:off x="533400" y="876300"/>
            <a:ext cx="6667500" cy="571500"/>
          </a:xfrm>
          <a:prstGeom prst="rect">
            <a:avLst/>
          </a:prstGeom>
        </p:spPr>
        <p:txBody>
          <a:bodyPr wrap="square"/>
          <a:lstStyle/>
          <a:p>
            <a:pPr algn="l" marL="0"/>
            <a:r>
              <a:rPr lang="en-US" dirty="0" sz="30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Roadmap</a:t>
            </a:r>
            <a:endParaRPr lang="en-US"/>
          </a:p>
        </p:txBody>
      </p:sp>
      <p:sp>
        <p:nvSpPr>
          <p:cNvPr id="50" name="Rectangle 50"/>
          <p:cNvSpPr txBox="0"/>
          <p:nvPr/>
        </p:nvSpPr>
        <p:spPr>
          <a:xfrm>
            <a:off x="809625" y="2381250"/>
            <a:ext cx="3143250" cy="2286000"/>
          </a:xfrm>
          <a:prstGeom prst="roundRect">
            <a:avLst/>
          </a:prstGeom>
          <a:solidFill>
            <a:srgbClr val="f1f5f9"/>
          </a:solidFill>
        </p:spPr>
        <p:txBody>
          <a:bodyPr wrap="square"/>
          <a:lstStyle/>
          <a:p>
            <a:pPr/>
            <a:r>
              <a:rPr lang="en-US" dirty="0"/>
              <a:t/>
            </a:r>
            <a:endParaRPr lang="en-US"/>
          </a:p>
        </p:txBody>
      </p:sp>
      <p:sp>
        <p:nvSpPr>
          <p:cNvPr id="51" name="Rectangle 51"/>
          <p:cNvSpPr txBox="0"/>
          <p:nvPr/>
        </p:nvSpPr>
        <p:spPr>
          <a:xfrm>
            <a:off x="1038225" y="2667000"/>
            <a:ext cx="533400" cy="533400"/>
          </a:xfrm>
          <a:prstGeom prst="ellipse">
            <a:avLst/>
          </a:prstGeom>
          <a:solidFill>
            <a:srgbClr val="4f46e5"/>
          </a:solidFill>
        </p:spPr>
        <p:txBody>
          <a:bodyPr wrap="square"/>
          <a:lstStyle/>
          <a:p>
            <a:pPr/>
            <a:r>
              <a:rPr lang="en-US" dirty="0"/>
              <a:t/>
            </a:r>
            <a:endParaRPr lang="en-US"/>
          </a:p>
        </p:txBody>
      </p:sp>
      <p:sp>
        <p:nvSpPr>
          <p:cNvPr id="52" name="TextBox 52"/>
          <p:cNvSpPr txBox="1"/>
          <p:nvPr/>
        </p:nvSpPr>
        <p:spPr>
          <a:xfrm>
            <a:off x="1038225" y="3429000"/>
            <a:ext cx="2686050" cy="323850"/>
          </a:xfrm>
          <a:prstGeom prst="rect">
            <a:avLst/>
          </a:prstGeom>
        </p:spPr>
        <p:txBody>
          <a:bodyPr wrap="square"/>
          <a:lstStyle/>
          <a:p>
            <a:pPr algn="l" marL="0"/>
            <a:r>
              <a:rPr lang="en-US" dirty="0" sz="1200" b="1">
                <a:solidFill>
                  <a:srgbClr val="4f46e5"/>
                </a:solidFill>
                <a:latin typeface="Calibri"/>
                <a:ea typeface="Calibri"/>
                <a:cs typeface="Calibri"/>
              </a:rPr>
              <a:t>Now</a:t>
            </a:r>
            <a:endParaRPr lang="en-US"/>
          </a:p>
        </p:txBody>
      </p:sp>
      <p:sp>
        <p:nvSpPr>
          <p:cNvPr id="53" name="TextBox 53"/>
          <p:cNvSpPr txBox="1"/>
          <p:nvPr/>
        </p:nvSpPr>
        <p:spPr>
          <a:xfrm>
            <a:off x="1038225" y="3771900"/>
            <a:ext cx="2686050" cy="571500"/>
          </a:xfrm>
          <a:prstGeom prst="rect">
            <a:avLst/>
          </a:prstGeom>
        </p:spPr>
        <p:txBody>
          <a:bodyPr wrap="square"/>
          <a:lstStyle/>
          <a:p>
            <a:pPr algn="l" marL="0"/>
            <a:r>
              <a:rPr lang="en-US" dirty="0" sz="18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Realtime editing</a:t>
            </a:r>
            <a:endParaRPr lang="en-US"/>
          </a:p>
        </p:txBody>
      </p:sp>
      <p:sp>
        <p:nvSpPr>
          <p:cNvPr id="54" name="Rectangle 54"/>
          <p:cNvSpPr txBox="0"/>
          <p:nvPr/>
        </p:nvSpPr>
        <p:spPr>
          <a:xfrm>
            <a:off x="4524375" y="2381250"/>
            <a:ext cx="3143250" cy="2286000"/>
          </a:xfrm>
          <a:prstGeom prst="roundRect">
            <a:avLst/>
          </a:prstGeom>
          <a:solidFill>
            <a:srgbClr val="f1f5f9"/>
          </a:solidFill>
        </p:spPr>
        <p:txBody>
          <a:bodyPr wrap="square"/>
          <a:lstStyle/>
          <a:p>
            <a:pPr/>
            <a:r>
              <a:rPr lang="en-US" dirty="0"/>
              <a:t/>
            </a:r>
            <a:endParaRPr lang="en-US"/>
          </a:p>
        </p:txBody>
      </p:sp>
      <p:sp>
        <p:nvSpPr>
          <p:cNvPr id="55" name="Rectangle 55"/>
          <p:cNvSpPr txBox="0"/>
          <p:nvPr/>
        </p:nvSpPr>
        <p:spPr>
          <a:xfrm>
            <a:off x="4752975" y="2667000"/>
            <a:ext cx="533400" cy="533400"/>
          </a:xfrm>
          <a:prstGeom prst="ellipse">
            <a:avLst/>
          </a:prstGeom>
          <a:solidFill>
            <a:srgbClr val="6366f1"/>
          </a:solidFill>
        </p:spPr>
        <p:txBody>
          <a:bodyPr wrap="square"/>
          <a:lstStyle/>
          <a:p>
            <a:pPr/>
            <a:r>
              <a:rPr lang="en-US" dirty="0"/>
              <a:t/>
            </a:r>
            <a:endParaRPr lang="en-US"/>
          </a:p>
        </p:txBody>
      </p:sp>
      <p:sp>
        <p:nvSpPr>
          <p:cNvPr id="56" name="TextBox 56"/>
          <p:cNvSpPr txBox="1"/>
          <p:nvPr/>
        </p:nvSpPr>
        <p:spPr>
          <a:xfrm>
            <a:off x="4752975" y="3429000"/>
            <a:ext cx="2686050" cy="323850"/>
          </a:xfrm>
          <a:prstGeom prst="rect">
            <a:avLst/>
          </a:prstGeom>
        </p:spPr>
        <p:txBody>
          <a:bodyPr wrap="square"/>
          <a:lstStyle/>
          <a:p>
            <a:pPr algn="l" marL="0"/>
            <a:r>
              <a:rPr lang="en-US" dirty="0" sz="1200" b="1">
                <a:solidFill>
                  <a:srgbClr val="6366f1"/>
                </a:solidFill>
                <a:latin typeface="Calibri"/>
                <a:ea typeface="Calibri"/>
                <a:cs typeface="Calibri"/>
              </a:rPr>
              <a:t>Next</a:t>
            </a:r>
            <a:endParaRPr lang="en-US"/>
          </a:p>
        </p:txBody>
      </p:sp>
      <p:sp>
        <p:nvSpPr>
          <p:cNvPr id="57" name="TextBox 57"/>
          <p:cNvSpPr txBox="1"/>
          <p:nvPr/>
        </p:nvSpPr>
        <p:spPr>
          <a:xfrm>
            <a:off x="4752975" y="3771900"/>
            <a:ext cx="2686050" cy="571500"/>
          </a:xfrm>
          <a:prstGeom prst="rect">
            <a:avLst/>
          </a:prstGeom>
        </p:spPr>
        <p:txBody>
          <a:bodyPr wrap="square"/>
          <a:lstStyle/>
          <a:p>
            <a:pPr algn="l" marL="0"/>
            <a:r>
              <a:rPr lang="en-US" dirty="0" sz="18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Offline mode</a:t>
            </a:r>
            <a:endParaRPr lang="en-US"/>
          </a:p>
        </p:txBody>
      </p:sp>
      <p:sp>
        <p:nvSpPr>
          <p:cNvPr id="58" name="Rectangle 58"/>
          <p:cNvSpPr txBox="0"/>
          <p:nvPr/>
        </p:nvSpPr>
        <p:spPr>
          <a:xfrm>
            <a:off x="8239125" y="2381250"/>
            <a:ext cx="3143250" cy="2286000"/>
          </a:xfrm>
          <a:prstGeom prst="roundRect">
            <a:avLst/>
          </a:prstGeom>
          <a:solidFill>
            <a:srgbClr val="f1f5f9"/>
          </a:solidFill>
        </p:spPr>
        <p:txBody>
          <a:bodyPr wrap="square"/>
          <a:lstStyle/>
          <a:p>
            <a:pPr/>
            <a:r>
              <a:rPr lang="en-US" dirty="0"/>
              <a:t/>
            </a:r>
            <a:endParaRPr lang="en-US"/>
          </a:p>
        </p:txBody>
      </p:sp>
      <p:sp>
        <p:nvSpPr>
          <p:cNvPr id="59" name="Rectangle 59"/>
          <p:cNvSpPr txBox="0"/>
          <p:nvPr/>
        </p:nvSpPr>
        <p:spPr>
          <a:xfrm>
            <a:off x="8467725" y="2667000"/>
            <a:ext cx="533400" cy="533400"/>
          </a:xfrm>
          <a:prstGeom prst="ellipse">
            <a:avLst/>
          </a:prstGeom>
          <a:solidFill>
            <a:srgbClr val="818cf8"/>
          </a:solidFill>
        </p:spPr>
        <p:txBody>
          <a:bodyPr wrap="square"/>
          <a:lstStyle/>
          <a:p>
            <a:pPr/>
            <a:r>
              <a:rPr lang="en-US" dirty="0"/>
              <a:t/>
            </a:r>
            <a:endParaRPr lang="en-US"/>
          </a:p>
        </p:txBody>
      </p:sp>
      <p:sp>
        <p:nvSpPr>
          <p:cNvPr id="60" name="TextBox 60"/>
          <p:cNvSpPr txBox="1"/>
          <p:nvPr/>
        </p:nvSpPr>
        <p:spPr>
          <a:xfrm>
            <a:off x="8467725" y="3429000"/>
            <a:ext cx="2686050" cy="323850"/>
          </a:xfrm>
          <a:prstGeom prst="rect">
            <a:avLst/>
          </a:prstGeom>
        </p:spPr>
        <p:txBody>
          <a:bodyPr wrap="square"/>
          <a:lstStyle/>
          <a:p>
            <a:pPr algn="l" marL="0"/>
            <a:r>
              <a:rPr lang="en-US" dirty="0" sz="1200" b="1">
                <a:solidFill>
                  <a:srgbClr val="818cf8"/>
                </a:solidFill>
                <a:latin typeface="Calibri"/>
                <a:ea typeface="Calibri"/>
                <a:cs typeface="Calibri"/>
              </a:rPr>
              <a:t>Later</a:t>
            </a:r>
            <a:endParaRPr lang="en-US"/>
          </a:p>
        </p:txBody>
      </p:sp>
      <p:sp>
        <p:nvSpPr>
          <p:cNvPr id="61" name="TextBox 61"/>
          <p:cNvSpPr txBox="1"/>
          <p:nvPr/>
        </p:nvSpPr>
        <p:spPr>
          <a:xfrm>
            <a:off x="8467725" y="3771900"/>
            <a:ext cx="2686050" cy="571500"/>
          </a:xfrm>
          <a:prstGeom prst="rect">
            <a:avLst/>
          </a:prstGeom>
        </p:spPr>
        <p:txBody>
          <a:bodyPr wrap="square"/>
          <a:lstStyle/>
          <a:p>
            <a:pPr algn="l" marL="0"/>
            <a:r>
              <a:rPr lang="en-US" dirty="0" sz="18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AI summaries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62"/>
          <p:cNvSpPr txBox="1"/>
          <p:nvPr/>
        </p:nvSpPr>
        <p:spPr>
          <a:xfrm>
            <a:off x="1333500" y="2667000"/>
            <a:ext cx="9525000" cy="952500"/>
          </a:xfrm>
          <a:prstGeom prst="rect">
            <a:avLst/>
          </a:prstGeom>
        </p:spPr>
        <p:txBody>
          <a:bodyPr wrap="square"/>
          <a:lstStyle/>
          <a:p>
            <a:pPr algn="ctr" marL="0"/>
            <a:r>
              <a:rPr lang="en-US" dirty="0" sz="4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Thank you</a:t>
            </a:r>
            <a:endParaRPr lang="en-US"/>
          </a:p>
        </p:txBody>
      </p:sp>
      <p:sp>
        <p:nvSpPr>
          <p:cNvPr id="63" name="TextBox 63"/>
          <p:cNvSpPr txBox="1"/>
          <p:nvPr/>
        </p:nvSpPr>
        <p:spPr>
          <a:xfrm>
            <a:off x="1333500" y="3810000"/>
            <a:ext cx="9525000" cy="381000"/>
          </a:xfrm>
          <a:prstGeom prst="rect">
            <a:avLst/>
          </a:prstGeom>
        </p:spPr>
        <p:txBody>
          <a:bodyPr wrap="square"/>
          <a:lstStyle/>
          <a:p>
            <a:pPr algn="ctr" marL="0"/>
            <a:r>
              <a:rPr lang="en-US" dirty="0" sz="1650">
                <a:solidFill>
                  <a:srgbClr val="c7d2fe"/>
                </a:solidFill>
                <a:latin typeface="Calibri"/>
                <a:ea typeface="Calibri"/>
                <a:cs typeface="Calibri"/>
              </a:rPr>
              <a:t>atlas.example.com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7</Slides>
  <ScaleCrop>false</ScaleCrop>
  <LinksUpToDate>false</LinksUpToDate>
  <SharedDoc>false</SharedDoc>
  <HyperlinksChanged>false</HyperlinksChanged>
  <AppVersion>1.0000</AppVersion>
  <HiddenSlides>0</HiddenSlides>
  <Notes>0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Atlas — Product Overview</dc:title>
  <dc:creator>pptx-viewer</dc:creator>
  <cp:lastModifiedBy>pptx-viewer</cp:lastModifiedBy>
  <cp:revision>3</cp:revision>
  <dcterms:created xsi:type="dcterms:W3CDTF">2026-06-14T09:54:26Z</dcterms:created>
  <dcterms:modified xsi:type="dcterms:W3CDTF">2026-06-25T08:32:04Z</dcterms:modified>
</cp:coreProperties>
</file>