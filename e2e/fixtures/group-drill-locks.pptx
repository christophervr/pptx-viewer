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" name="Cards"/>
          <p:cNvGrpSpPr/>
          <p:nvPr/>
        </p:nvGrpSpPr>
        <p:grpSpPr>
          <a:xfrm>
            <a:off x="1524000" y="2286000"/>
            <a:ext cx="8953500" cy="1905000"/>
            <a:chOff x="1524000" y="2286000"/>
            <a:chExt cx="8953500" cy="1905000"/>
          </a:xfrm>
        </p:grpSpPr>
        <p:sp>
          <p:nvSpPr>
            <p:cNvPr id="11" name="Card Pinned"/>
            <p:cNvSpPr>
              <a:spLocks noSelect="1"/>
            </p:cNvSpPr>
            <p:nvPr/>
          </p:nvSpPr>
          <p:spPr>
            <a:xfrm>
              <a:off x="1524000" y="2286000"/>
              <a:ext cx="4000500" cy="1905000"/>
            </a:xfrm>
            <a:prstGeom prst="roundRect">
              <a:avLst/>
            </a:prstGeom>
            <a:solidFill>
              <a:srgbClr val="FDE7DA"/>
            </a:solidFill>
          </p:spPr>
          <p:txBody>
            <a:bodyPr lIns="182880" tIns="182880" anchor="t"/>
            <a:lstStyle/>
            <a:p>
              <a:r>
                <a:rPr lang="en-US" sz="2800" b="1"/>
                <a:t>Pinned</a:t>
              </a:r>
            </a:p>
            <a:p>
              <a:r>
                <a:rPr lang="en-US" sz="1800"/>
                <a:t>Locked against selection</a:t>
              </a:r>
            </a:p>
          </p:txBody>
        </p:sp>
        <p:sp>
          <p:nvSpPr>
            <p:cNvPr id="12" name="Card Open"/>
            <p:cNvSpPr/>
            <p:nvPr/>
          </p:nvSpPr>
          <p:spPr>
            <a:xfrm>
              <a:off x="6477000" y="2286000"/>
              <a:ext cx="4000500" cy="1905000"/>
            </a:xfrm>
            <a:prstGeom prst="roundRect">
              <a:avLst/>
            </a:prstGeom>
            <a:solidFill>
              <a:srgbClr val="FDE7DA"/>
            </a:solidFill>
          </p:spPr>
          <p:txBody>
            <a:bodyPr lIns="182880" tIns="182880" anchor="t"/>
            <a:lstStyle/>
            <a:p>
              <a:r>
                <a:rPr lang="en-US" sz="2800" b="1"/>
                <a:t>Open</a:t>
              </a:r>
            </a:p>
            <a:p>
              <a:r>
                <a:rPr lang="en-US" sz="1800"/>
                <a:t>No locks</a:t>
              </a:r>
            </a:p>
          </p:txBody>
        </p:sp>
      </p:grpSp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Text Box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