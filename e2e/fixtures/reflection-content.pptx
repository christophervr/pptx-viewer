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lectedTextShape"/>
          <p:cNvSpPr/>
          <p:nvPr/>
        </p:nvSpPr>
        <p:spPr>
          <a:xfrm>
            <a:off x="762000" y="508000"/>
            <a:ext cx="3048000" cy="1016000"/>
          </a:xfrm>
          <a:prstGeom prst="rect">
            <a:avLst/>
          </a:prstGeom>
          <a:solidFill>
            <a:srgbClr val="2255AA"/>
          </a:solidFill>
          <a:effectLst>
            <a:reflection blurRad="0" stA="60000" endA="0" endPos="100000" dist="0" dir="5400000" fadeDir="5400000" rotWithShape="0"/>
          </a:effectLst>
        </p:spPr>
        <p:txBody>
          <a:bodyPr/>
          <a:lstStyle/>
          <a:p>
            <a:r>
              <a:rPr lang="en-US" sz="2400" dirty="0">
                <a:latin typeface="Arial"/>
                <a:cs typeface="Arial"/>
              </a:rPr>
              <a:t>Reflected text</a:t>
            </a:r>
          </a:p>
        </p:txBody>
      </p:sp>
      <p:grpSp>
        <p:nvGrpSpPr>
          <p:cNvPr id="3" name="ReflectedGroup"/>
          <p:cNvGrpSpPr/>
          <p:nvPr/>
        </p:nvGrpSpPr>
        <p:grpSpPr>
          <a:xfrm>
            <a:off x="762000" y="2032000"/>
            <a:ext cx="3048000" cy="1270000"/>
            <a:chOff x="0" y="0"/>
            <a:chExt cx="3048000" cy="1270000"/>
          </a:xfrm>
          <a:effectLst>
            <a:reflection blurRad="0" stA="60000" endA="0" endPos="100000" dist="0" dir="5400000" fadeDir="5400000" rotWithShape="0"/>
          </a:effectLst>
        </p:grpSpPr>
        <p:sp>
          <p:nvSpPr>
            <p:cNvPr id="4" name="ReflectedGroupChild"/>
            <p:cNvSpPr/>
            <p:nvPr/>
          </p:nvSpPr>
          <p:spPr>
            <a:xfrm>
              <a:off x="254000" y="254000"/>
              <a:ext cx="2540000" cy="762000"/>
            </a:xfrm>
            <a:prstGeom prst="rect">
              <a:avLst/>
            </a:prstGeom>
            <a:solidFill>
              <a:srgbClr val="228833"/>
            </a:solidFill>
          </p:spPr>
          <p:txBody>
            <a:bodyPr/>
            <a:lstStyle/>
            <a:p>
              <a:r>
                <a:rPr lang="en-US" sz="2400" dirty="0">
                  <a:latin typeface="Arial"/>
                  <a:cs typeface="Arial"/>
                </a:rPr>
                <a:t>Grouped child</a:t>
              </a:r>
            </a:p>
          </p:txBody>
        </p:sp>
      </p:grpSp>
      <p:grpSp>
        <p:nvGrpSpPr>
          <p:cNvPr id="5" name="ShadowedGlowedGroup"/>
          <p:cNvGrpSpPr/>
          <p:nvPr/>
        </p:nvGrpSpPr>
        <p:grpSpPr>
          <a:xfrm>
            <a:off x="4064000" y="508000"/>
            <a:ext cx="3048000" cy="1270000"/>
            <a:chOff x="0" y="0"/>
            <a:chExt cx="3048000" cy="1270000"/>
          </a:xfrm>
          <a:effectLst>
            <a:outerShdw blurRad="63500" dist="38100" dir="2700000" rotWithShape="0">
              <a:srgbClr val="000000">
                <a:alpha val="60000"/>
              </a:srgbClr>
            </a:outerShdw>
            <a:glow rad="63500">
              <a:srgbClr val="FFC000">
                <a:alpha val="80000"/>
              </a:srgbClr>
            </a:glow>
          </a:effectLst>
        </p:grpSpPr>
        <p:sp>
          <p:nvSpPr>
            <p:cNvPr id="6" name="ShadowGlowGroupChild"/>
            <p:cNvSpPr/>
            <p:nvPr/>
          </p:nvSpPr>
          <p:spPr>
            <a:xfrm>
              <a:off x="254000" y="254000"/>
              <a:ext cx="2540000" cy="762000"/>
            </a:xfrm>
            <a:prstGeom prst="rect">
              <a:avLst/>
            </a:prstGeom>
            <a:solidFill>
              <a:srgbClr val="AA2288"/>
            </a:solidFill>
          </p:spPr>
          <p:txBody>
            <a:bodyPr/>
            <a:lstStyle/>
            <a:p>
              <a:r>
                <a:rPr lang="en-US" sz="2400" dirty="0">
                  <a:latin typeface="Arial"/>
                  <a:cs typeface="Arial"/>
                </a:rPr>
                <a:t>Shadow glow child</a:t>
              </a:r>
            </a:p>
          </p:txBody>
        </p:sp>
      </p:grpSp>
      <p:grpSp>
        <p:nvGrpSpPr>
          <p:cNvPr id="7" name="NestedReflectionGroup"/>
          <p:cNvGrpSpPr/>
          <p:nvPr/>
        </p:nvGrpSpPr>
        <p:grpSpPr>
          <a:xfrm>
            <a:off x="4064000" y="2032000"/>
            <a:ext cx="3048000" cy="1270000"/>
            <a:chOff x="0" y="0"/>
            <a:chExt cx="3048000" cy="1270000"/>
          </a:xfrm>
          <a:effectLst>
            <a:reflection blurRad="0" stA="60000" endA="0" endPos="100000" dist="0" dir="5400000" fadeDir="5400000" rotWithShape="0"/>
          </a:effectLst>
        </p:grpSpPr>
        <p:sp>
          <p:nvSpPr>
            <p:cNvPr id="8" name="NestedReflectionChild"/>
            <p:cNvSpPr/>
            <p:nvPr/>
          </p:nvSpPr>
          <p:spPr>
            <a:xfrm>
              <a:off x="254000" y="254000"/>
              <a:ext cx="2540000" cy="762000"/>
            </a:xfrm>
            <a:prstGeom prst="rect">
              <a:avLst/>
            </a:prstGeom>
            <a:solidFill>
              <a:srgbClr val="AA8822"/>
            </a:solidFill>
            <a:effectLst>
              <a:reflection blurRad="0" stA="60000" endA="0" endPos="100000" dist="0" dir="5400000" fadeDir="5400000" rotWithShape="0"/>
            </a:effectLst>
          </p:spPr>
          <p:txBody>
            <a:bodyPr/>
            <a:lstStyle/>
            <a:p>
              <a:r>
                <a:rPr lang="en-US" sz="2400" dirty="0">
                  <a:latin typeface="Arial"/>
                  <a:cs typeface="Arial"/>
                </a:rPr>
                <a:t>Nested child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Reflection Content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