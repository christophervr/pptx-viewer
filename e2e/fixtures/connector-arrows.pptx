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A"/>
          <p:cNvSpPr/>
          <p:nvPr/>
        </p:nvSpPr>
        <p:spPr>
          <a:xfrm>
            <a:off x="508000" y="508000"/>
            <a:ext cx="2032000" cy="1016000"/>
          </a:xfrm>
          <a:prstGeom prst="rect">
            <a:avLst/>
          </a:prstGeom>
          <a:solidFill>
            <a:srgbClr val="DDEBF7"/>
          </a:solidFill>
        </p:spPr>
        <p:txBody>
          <a:bodyPr/>
          <a:lstStyle/>
          <a:p>
            <a:r>
              <a:rPr lang="en-US"/>
              <a:t>Box A</a:t>
            </a:r>
          </a:p>
        </p:txBody>
      </p:sp>
      <p:cxnSp>
        <p:nvCxnSpPr>
          <p:cNvPr id="3" name="Connector Plain"/>
          <p:cNvCxnSpPr/>
          <p:nvPr/>
        </p:nvCxnSpPr>
        <p:spPr>
          <a:xfrm>
            <a:off x="508000" y="2032000"/>
            <a:ext cx="3810000" cy="762000"/>
          </a:xfrm>
          <a:prstGeom prst="straightConnector1">
            <a:avLst/>
          </a:prstGeom>
          <a:ln w="38100">
            <a:solidFill>
              <a:srgbClr val="C00000"/>
            </a:solidFill>
          </a:ln>
        </p:spPr>
      </p:cxnSp>
      <p:cxnSp>
        <p:nvCxnSpPr>
          <p:cNvPr id="4" name="Connector Arrows"/>
          <p:cNvCxnSpPr/>
          <p:nvPr/>
        </p:nvCxnSpPr>
        <p:spPr>
          <a:xfrm>
            <a:off x="508000" y="3302000"/>
            <a:ext cx="3810000" cy="762000"/>
          </a:xfrm>
          <a:prstGeom prst="bentConnector3">
            <a:avLst/>
          </a:prstGeom>
          <a:ln w="38100">
            <a:solidFill>
              <a:srgbClr val="C00000"/>
            </a:solidFill>
            <a:headEnd type="oval" w="lg" len="sm"/>
            <a:tailEnd type="triangle" w="sm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