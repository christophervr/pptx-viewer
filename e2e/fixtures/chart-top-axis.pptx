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Axis Bar</c:v>
                </c:pt>
              </c:strCache>
            </c:strRef>
          </c:tx>
          <c:spPr>
            <a:solidFill>
              <a:srgbClr val="00B0F0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PART 1</c:v>
                </c:pt>
                <c:pt idx="1">
                  <c:v>PART 2</c:v>
                </c:pt>
                <c:pt idx="2">
                  <c:v>PART 3</c:v>
                </c:pt>
                <c:pt idx="3">
                  <c:v>PART 4</c:v>
                </c:pt>
                <c:pt idx="4">
                  <c:v>PART 5</c:v>
                </c:pt>
                <c:pt idx="5">
                  <c:v>PART 6</c:v>
                </c:pt>
                <c:pt idx="6">
                  <c:v>PART 7</c:v>
                </c:pt>
                <c:pt idx="7">
                  <c:v>PART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</c:v>
                </c:pt>
                <c:pt idx="1">
                  <c:v>5</c:v>
                </c:pt>
                <c:pt idx="2">
                  <c:v>7</c:v>
                </c:pt>
                <c:pt idx="3">
                  <c:v>9</c:v>
                </c:pt>
                <c:pt idx="4">
                  <c:v>8</c:v>
                </c:pt>
                <c:pt idx="5">
                  <c:v>5</c:v>
                </c:pt>
                <c:pt idx="6">
                  <c:v>8</c:v>
                </c:pt>
                <c:pt idx="7">
                  <c:v>5</c:v>
                </c:pt>
              </c:numCache>
            </c:numRef>
          </c:val>
        </c:ser>
        <c:gapWidth val="150"/>
        <c:axId val="38396416"/>
        <c:axId val="36333824"/>
      </c:barChart>
      <c:catAx>
        <c:axId val="38396416"/>
        <c:scaling>
          <c:orientation val="minMax"/>
        </c:scaling>
        <c:delete val="0"/>
        <c:axPos val="t"/>
        <c:numFmt formatCode="General" sourceLinked="0"/>
        <c:majorTickMark val="out"/>
        <c:minorTickMark val="none"/>
        <c:tickLblPos val="nextTo"/>
        <c:crossAx val="36333824"/>
        <c:crosses val="autoZero"/>
        <c:auto val="1"/>
        <c:lblAlgn val="ctr"/>
        <c:lblOffset val="100"/>
        <c:noMultiLvlLbl val="0"/>
      </c:catAx>
      <c:valAx>
        <c:axId val="3633382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crossAx val="38396416"/>
        <c:crosses val="autoZero"/>
        <c:crossBetween val="between"/>
        <c:majorUnit val="1"/>
      </c:valAx>
      <c:spPr>
        <a:ln>
          <a:noFill/>
        </a:ln>
      </c:spPr>
    </c:plotArea>
    <c:plotVisOnly val="1"/>
    <c:dispBlanksAs val="gap"/>
  </c:chart>
</c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Top Axis Bar</a:t>
            </a:r>
            <a:endParaRPr lang="en-US"/>
          </a:p>
        </p:txBody>
      </p:sp>
      <p:graphicFrame>
        <p:nvGraphicFramePr>
          <p:cNvPr id="101" name="Chart 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 Top Axis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