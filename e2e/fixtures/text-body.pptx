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umns"/>
          <p:cNvSpPr/>
          <p:nvPr/>
        </p:nvSpPr>
        <p:spPr>
          <a:xfrm>
            <a:off x="457200" y="274320"/>
            <a:ext cx="3657600" cy="1371600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txBody>
          <a:bodyPr wrap="square" numCol="2" spcCol="228600">
            <a:noAutofit/>
          </a:bodyPr>
          <a:lstStyle/>
          <a:p>
            <a:r>
              <a:rPr lang="en-US" sz="1200" dirty="0">
                <a:latin typeface="Arial"/>
                <a:cs typeface="Arial"/>
              </a:rPr>
              <a:t>Column body text that has to flow from the first column into the second one</a:t>
            </a:r>
          </a:p>
        </p:txBody>
      </p:sp>
      <p:sp>
        <p:nvSpPr>
          <p:cNvPr id="3" name="Tabs"/>
          <p:cNvSpPr/>
          <p:nvPr/>
        </p:nvSpPr>
        <p:spPr>
          <a:xfrm>
            <a:off x="4572000" y="274320"/>
            <a:ext cx="3657600" cy="731520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txBody>
          <a:bodyPr wrap="square">
            <a:noAutofit/>
          </a:bodyPr>
          <a:lstStyle/>
          <a:p>
            <a:pPr defTabSz="914400">
              <a:tabLst>
                <a:tab pos="1828800" algn="l"/>
              </a:tabLst>
            </a:pPr>
            <a:r>
              <a:rPr lang="en-US" sz="1400" dirty="0">
                <a:latin typeface="Arial"/>
                <a:cs typeface="Arial"/>
              </a:rPr>
              <a:t>Item	Price</a:t>
            </a:r>
          </a:p>
        </p:txBody>
      </p:sp>
      <p:sp>
        <p:nvSpPr>
          <p:cNvPr id="4" name="AnchorCtr"/>
          <p:cNvSpPr/>
          <p:nvPr/>
        </p:nvSpPr>
        <p:spPr>
          <a:xfrm>
            <a:off x="457200" y="1920240"/>
            <a:ext cx="3657600" cy="731520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txBody>
          <a:bodyPr wrap="square" anchorCtr="1">
            <a:noAutofit/>
          </a:bodyPr>
          <a:lstStyle/>
          <a:p>
            <a:pPr algn="l"/>
            <a:r>
              <a:rPr lang="en-US" sz="1600" dirty="0">
                <a:latin typeface="Arial"/>
                <a:cs typeface="Arial"/>
              </a:rPr>
              <a:t>Centred box</a:t>
            </a:r>
          </a:p>
        </p:txBody>
      </p:sp>
      <p:sp>
        <p:nvSpPr>
          <p:cNvPr id="5" name="ClipOverflow"/>
          <p:cNvSpPr/>
          <p:nvPr/>
        </p:nvSpPr>
        <p:spPr>
          <a:xfrm>
            <a:off x="4572000" y="1920240"/>
            <a:ext cx="3657600" cy="457200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txBody>
          <a:bodyPr wrap="square" vertOverflow="clip">
            <a:noAutofit/>
          </a:bodyPr>
          <a:lstStyle/>
          <a:p>
            <a:r>
              <a:rPr lang="en-US" sz="1600" dirty="0">
                <a:latin typeface="Arial"/>
                <a:cs typeface="Arial"/>
              </a:rPr>
              <a:t>This body is authored vertOverflow clip so the overflow must not escape the shape at all</a:t>
            </a:r>
          </a:p>
        </p:txBody>
      </p:sp>
      <p:sp>
        <p:nvSpPr>
          <p:cNvPr id="6" name="Rotated"/>
          <p:cNvSpPr/>
          <p:nvPr/>
        </p:nvSpPr>
        <p:spPr>
          <a:xfrm>
            <a:off x="457200" y="2926080"/>
            <a:ext cx="2743200" cy="1371600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txBody>
          <a:bodyPr wrap="square" rot="2700000">
            <a:noAutofit/>
          </a:bodyPr>
          <a:lstStyle/>
          <a:p>
            <a:r>
              <a:rPr lang="en-US" sz="1600" dirty="0">
                <a:latin typeface="Arial"/>
                <a:cs typeface="Arial"/>
              </a:rPr>
              <a:t>Rotated body</a:t>
            </a:r>
          </a:p>
        </p:txBody>
      </p:sp>
      <p:sp>
        <p:nvSpPr>
          <p:cNvPr id="7" name="Chevron"/>
          <p:cNvSpPr/>
          <p:nvPr/>
        </p:nvSpPr>
        <p:spPr>
          <a:xfrm>
            <a:off x="4572000" y="2926080"/>
            <a:ext cx="3657600" cy="914400"/>
          </a:xfrm>
          <a:prstGeom prst="chevron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200" dirty="0">
                <a:latin typeface="Arial"/>
                <a:cs typeface="Arial"/>
              </a:rPr>
              <a:t>Chevron label wrapping inside the arrow points of its own geometry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Body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