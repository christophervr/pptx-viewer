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ms-office.chartex+xml"/>
  <Override PartName="/ppt/charts/chart12.xml" ContentType="application/vnd.ms-office.chartex+xml"/>
  <Override PartName="/ppt/charts/chart13.xml" ContentType="application/vnd.ms-office.chartex+xml"/>
  <Override PartName="/ppt/charts/chart14.xml" ContentType="application/vnd.ms-office.chartex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p14="http://schemas.microsoft.com/office/powerpoint/2010/main" xmlns:p15="http://schemas.microsoft.com/office/powerpoint/2012/main" saveSubsetFonts="1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</p:sldIdLst>
  <p:sldSz cx="12192000" cy="6858000"/>
  <p:notesSz cx="6858000" cy="12192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>
      <p:cViewPr varScale="1">
        <p:scale>
          <a:sx n="100" d="100"/>
          <a:sy n="100" d="100"/>
        </p:scale>
        <p:origin x="0" y="0"/>
      </p:cViewPr>
    </p:cSldViewPr>
  </p:slideViewPr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></Relationship><Relationship Id="rId2" Type="http://schemas.openxmlformats.org/officeDocument/2006/relationships/theme" Target="theme/theme1.xml"></Relationship><Relationship Id="rId3" Type="http://schemas.openxmlformats.org/officeDocument/2006/relationships/presProps" Target="presProps.xml"></Relationship><Relationship Id="rId4" Type="http://schemas.openxmlformats.org/officeDocument/2006/relationships/viewProps" Target="viewProps.xml"></Relationship><Relationship Id="rId5" Type="http://schemas.openxmlformats.org/officeDocument/2006/relationships/tableStyles" Target="tableStyles.xml"></Relationship><Relationship Id="rId6" Type="http://schemas.openxmlformats.org/officeDocument/2006/relationships/slide" Target="slides/slide1.xml"></Relationship><Relationship Id="rId7" Type="http://schemas.openxmlformats.org/officeDocument/2006/relationships/slide" Target="slides/slide2.xml"></Relationship><Relationship Id="rId8" Type="http://schemas.openxmlformats.org/officeDocument/2006/relationships/slide" Target="slides/slide3.xml"></Relationship><Relationship Id="rId9" Type="http://schemas.openxmlformats.org/officeDocument/2006/relationships/slide" Target="slides/slide4.xml"></Relationship><Relationship Id="rId10" Type="http://schemas.openxmlformats.org/officeDocument/2006/relationships/slide" Target="slides/slide5.xml"></Relationship><Relationship Id="rId11" Type="http://schemas.openxmlformats.org/officeDocument/2006/relationships/slide" Target="slides/slide6.xml"></Relationship><Relationship Id="rId12" Type="http://schemas.openxmlformats.org/officeDocument/2006/relationships/slide" Target="slides/slide7.xml"></Relationship><Relationship Id="rId13" Type="http://schemas.openxmlformats.org/officeDocument/2006/relationships/slide" Target="slides/slide8.xml"></Relationship><Relationship Id="rId14" Type="http://schemas.openxmlformats.org/officeDocument/2006/relationships/slide" Target="slides/slide9.xml"></Relationship><Relationship Id="rId15" Type="http://schemas.openxmlformats.org/officeDocument/2006/relationships/slide" Target="slides/slide10.xml"></Relationship><Relationship Id="rId16" Type="http://schemas.openxmlformats.org/officeDocument/2006/relationships/slide" Target="slides/slide11.xml"></Relationship><Relationship Id="rId17" Type="http://schemas.openxmlformats.org/officeDocument/2006/relationships/slide" Target="slides/slide12.xml"></Relationship><Relationship Id="rId18" Type="http://schemas.openxmlformats.org/officeDocument/2006/relationships/slide" Target="slides/slide13.xml"></Relationship><Relationship Id="rId19" Type="http://schemas.openxmlformats.org/officeDocument/2006/relationships/slide" Target="slides/slide14.xml"></Relationship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p>
            <a:r>
              <a:t>Clustered Bar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spPr>
            <a:solidFill>
              <a:srgbClr val="4472C4"/>
            </a:solidFill>
          </c:spP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45</c:v>
                </c:pt>
                <c:pt idx="1">
                  <c:v>62</c:v>
                </c:pt>
                <c:pt idx="2">
                  <c:v>58</c:v>
                </c:pt>
                <c:pt idx="3">
                  <c:v>71</c:v>
                </c:pt>
              </c:numCache>
            </c:numRef>
          </c:val>
        </c:ser>
        <c:ser>
          <c:idx val="1"/>
          <c:order val="1"/>
          <c:tx>
            <c:strRef>
              <c:f>Sheet1!$B$1</c:f>
              <c:strCache>
                <c:ptCount val="1"/>
                <c:pt idx="0">
                  <c:v>Cost</c:v>
                </c:pt>
              </c:strCache>
            </c:strRef>
          </c:tx>
          <c:spPr>
            <a:solidFill>
              <a:srgbClr val="ED7D31"/>
            </a:solidFill>
          </c:spP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30</c:v>
                </c:pt>
                <c:pt idx="1">
                  <c:v>41</c:v>
                </c:pt>
                <c:pt idx="2">
                  <c:v>38</c:v>
                </c:pt>
                <c:pt idx="3">
                  <c:v>52</c:v>
                </c:pt>
              </c:numCache>
            </c:numRef>
          </c:val>
        </c:ser>
        <c:gapWidth val="150"/>
        <c:overlap val="-27"/>
        <c:axId val="111111111"/>
        <c:axId val="222222222"/>
      </c:barChart>
      <c:catAx>
        <c:axId val="111111111"/>
        <c:scaling>
          <c:orientation val="minMax"/>
        </c:scaling>
        <c:delete val="0"/>
        <c:axPos val="b"/>
        <c:crossAx val="222222222"/>
      </c:catAx>
      <c:valAx>
        <c:axId val="222222222"/>
        <c:scaling>
          <c:orientation val="minMax"/>
        </c:scaling>
        <c:delete val="0"/>
        <c:axPos val="l"/>
        <c:crossAx val="111111111"/>
      </c:valAx>
    </c:plotArea>
    <c:legend>
      <c:legendPos val="b"/>
      <c:overlay val="0"/>
    </c:legend>
    <c:plotVisOnly val="1"/>
  </c:chart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p>
            <a:r>
              <a:t>Line (with trendline)</a:t>
            </a:r>
          </a:p>
        </c:rich>
      </c:tx>
      <c:overlay val="0"/>
    </c:title>
    <c:autoTitleDeleted val="0"/>
    <c:plotArea>
      <c:layout/>
      <c:lineChart>
        <c:grouping val="standard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spPr>
            <a:ln>
              <a:solidFill>
                <a:srgbClr val="4472C4"/>
              </a:solidFill>
            </a:ln>
          </c:spPr>
          <c:trendline>
            <c:spPr>
              <a:ln>
                <a:solidFill>
                  <a:srgbClr val="FF0000"/>
                </a:solidFill>
              </a:ln>
            </c:spPr>
            <c:trendlineType val="linear"/>
          </c:trendline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45</c:v>
                </c:pt>
                <c:pt idx="1">
                  <c:v>62</c:v>
                </c:pt>
                <c:pt idx="2">
                  <c:v>58</c:v>
                </c:pt>
                <c:pt idx="3">
                  <c:v>71</c:v>
                </c:pt>
              </c:numCache>
            </c:numRef>
          </c:val>
        </c:ser>
        <c:ser>
          <c:idx val="1"/>
          <c:order val="1"/>
          <c:tx>
            <c:strRef>
              <c:f>Sheet1!$B$1</c:f>
              <c:strCache>
                <c:ptCount val="1"/>
                <c:pt idx="0">
                  <c:v>Cost</c:v>
                </c:pt>
              </c:strCache>
            </c:strRef>
          </c:tx>
          <c:spPr>
            <a:ln>
              <a:solidFill>
                <a:srgbClr val="ED7D31"/>
              </a:solidFill>
            </a:ln>
          </c:spP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30</c:v>
                </c:pt>
                <c:pt idx="1">
                  <c:v>41</c:v>
                </c:pt>
                <c:pt idx="2">
                  <c:v>38</c:v>
                </c:pt>
                <c:pt idx="3">
                  <c:v>52</c:v>
                </c:pt>
              </c:numCache>
            </c:numRef>
          </c:val>
        </c:ser>
        <c:axId val="111111111"/>
        <c:axId val="222222222"/>
      </c:lineChart>
      <c:catAx>
        <c:axId val="111111111"/>
        <c:scaling>
          <c:orientation val="minMax"/>
        </c:scaling>
        <c:delete val="0"/>
        <c:axPos val="b"/>
        <c:crossAx val="222222222"/>
      </c:catAx>
      <c:valAx>
        <c:axId val="222222222"/>
        <c:scaling>
          <c:orientation val="minMax"/>
        </c:scaling>
        <c:delete val="0"/>
        <c:axPos val="l"/>
        <c:crossAx val="111111111"/>
      </c:valAx>
    </c:plotArea>
    <c:legend>
      <c:legendPos val="b"/>
      <c:overlay val="0"/>
    </c:legend>
    <c:plotVisOnly val="1"/>
  </c:chart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p>
            <a:r>
              <a:t>Area</a:t>
            </a:r>
          </a:p>
        </c:rich>
      </c:tx>
      <c:overlay val="0"/>
    </c:title>
    <c:autoTitleDeleted val="0"/>
    <c:plotArea>
      <c:layout/>
      <c:areaChart>
        <c:grouping val="standard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spPr>
            <a:solidFill>
              <a:srgbClr val="4472C4"/>
            </a:solidFill>
          </c:spP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45</c:v>
                </c:pt>
                <c:pt idx="1">
                  <c:v>62</c:v>
                </c:pt>
                <c:pt idx="2">
                  <c:v>58</c:v>
                </c:pt>
                <c:pt idx="3">
                  <c:v>71</c:v>
                </c:pt>
              </c:numCache>
            </c:numRef>
          </c:val>
        </c:ser>
        <c:ser>
          <c:idx val="1"/>
          <c:order val="1"/>
          <c:tx>
            <c:strRef>
              <c:f>Sheet1!$B$1</c:f>
              <c:strCache>
                <c:ptCount val="1"/>
                <c:pt idx="0">
                  <c:v>Cost</c:v>
                </c:pt>
              </c:strCache>
            </c:strRef>
          </c:tx>
          <c:spPr>
            <a:solidFill>
              <a:srgbClr val="ED7D31"/>
            </a:solidFill>
          </c:spP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30</c:v>
                </c:pt>
                <c:pt idx="1">
                  <c:v>41</c:v>
                </c:pt>
                <c:pt idx="2">
                  <c:v>38</c:v>
                </c:pt>
                <c:pt idx="3">
                  <c:v>52</c:v>
                </c:pt>
              </c:numCache>
            </c:numRef>
          </c:val>
        </c:ser>
        <c:axId val="111111111"/>
        <c:axId val="222222222"/>
      </c:areaChart>
      <c:catAx>
        <c:axId val="111111111"/>
        <c:scaling>
          <c:orientation val="minMax"/>
        </c:scaling>
        <c:delete val="0"/>
        <c:axPos val="b"/>
        <c:crossAx val="222222222"/>
      </c:catAx>
      <c:valAx>
        <c:axId val="222222222"/>
        <c:scaling>
          <c:orientation val="minMax"/>
        </c:scaling>
        <c:delete val="0"/>
        <c:axPos val="l"/>
        <c:crossAx val="111111111"/>
      </c:valAx>
    </c:plotArea>
    <c:legend>
      <c:legendPos val="b"/>
      <c:overlay val="0"/>
    </c:legend>
    <c:plotVisOnly val="1"/>
  </c:chart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p>
            <a:r>
              <a:t>Pie</a:t>
            </a:r>
          </a:p>
        </c:rich>
      </c:tx>
      <c:overlay val="0"/>
    </c:title>
    <c:autoTitleDeleted val="0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dPt>
            <c:idx val="0"/>
            <c:bubble3D val="0"/>
            <c:spPr>
              <a:solidFill>
                <a:srgbClr val="4472C4"/>
              </a:solidFill>
            </c:spPr>
          </c:dPt>
          <c:dPt>
            <c:idx val="1"/>
            <c:bubble3D val="0"/>
            <c:spPr>
              <a:solidFill>
                <a:srgbClr val="ED7D31"/>
              </a:solidFill>
            </c:spPr>
          </c:dPt>
          <c:dPt>
            <c:idx val="2"/>
            <c:bubble3D val="0"/>
            <c:spPr>
              <a:solidFill>
                <a:srgbClr val="70AD47"/>
              </a:solidFill>
            </c:spPr>
          </c:dPt>
          <c:dPt>
            <c:idx val="3"/>
            <c:bubble3D val="0"/>
            <c:spPr>
              <a:solidFill>
                <a:srgbClr val="FFC000"/>
              </a:solidFill>
            </c:spPr>
          </c:dPt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45</c:v>
                </c:pt>
                <c:pt idx="1">
                  <c:v>62</c:v>
                </c:pt>
                <c:pt idx="2">
                  <c:v>58</c:v>
                </c:pt>
                <c:pt idx="3">
                  <c:v>71</c:v>
                </c:pt>
              </c:numCache>
            </c:numRef>
          </c:val>
        </c:ser>
      </c:pieChart>
    </c:plotArea>
    <c:legend>
      <c:legendPos val="b"/>
      <c:overlay val="0"/>
    </c:legend>
    <c:plotVisOnly val="1"/>
  </c:chart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p>
            <a:r>
              <a:t>Doughnut</a:t>
            </a:r>
          </a:p>
        </c:rich>
      </c:tx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dPt>
            <c:idx val="0"/>
            <c:bubble3D val="0"/>
            <c:spPr>
              <a:solidFill>
                <a:srgbClr val="4472C4"/>
              </a:solidFill>
            </c:spPr>
          </c:dPt>
          <c:dPt>
            <c:idx val="1"/>
            <c:bubble3D val="0"/>
            <c:spPr>
              <a:solidFill>
                <a:srgbClr val="ED7D31"/>
              </a:solidFill>
            </c:spPr>
          </c:dPt>
          <c:dPt>
            <c:idx val="2"/>
            <c:bubble3D val="0"/>
            <c:spPr>
              <a:solidFill>
                <a:srgbClr val="70AD47"/>
              </a:solidFill>
            </c:spPr>
          </c:dPt>
          <c:dPt>
            <c:idx val="3"/>
            <c:bubble3D val="0"/>
            <c:spPr>
              <a:solidFill>
                <a:srgbClr val="FFC000"/>
              </a:solidFill>
            </c:spPr>
          </c:dPt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45</c:v>
                </c:pt>
                <c:pt idx="1">
                  <c:v>62</c:v>
                </c:pt>
                <c:pt idx="2">
                  <c:v>58</c:v>
                </c:pt>
                <c:pt idx="3">
                  <c:v>71</c:v>
                </c:pt>
              </c:numCache>
            </c:numRef>
          </c:val>
        </c:ser>
        <c:holeSize val="50"/>
      </c:doughnutChart>
    </c:plotArea>
    <c:legend>
      <c:legendPos val="b"/>
      <c:overlay val="0"/>
    </c:legend>
    <c:plotVisOnly val="1"/>
  </c:chart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p>
            <a:r>
              <a:t>Radar</a:t>
            </a:r>
          </a:p>
        </c:rich>
      </c:tx>
      <c:overlay val="0"/>
    </c:title>
    <c:autoTitleDeleted val="0"/>
    <c:plotArea>
      <c:layout/>
      <c:radarChart>
        <c:radarStyle val="marker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spPr>
            <a:solidFill>
              <a:srgbClr val="4472C4"/>
            </a:solidFill>
          </c:spP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45</c:v>
                </c:pt>
                <c:pt idx="1">
                  <c:v>62</c:v>
                </c:pt>
                <c:pt idx="2">
                  <c:v>58</c:v>
                </c:pt>
                <c:pt idx="3">
                  <c:v>71</c:v>
                </c:pt>
              </c:numCache>
            </c:numRef>
          </c:val>
        </c:ser>
        <c:ser>
          <c:idx val="1"/>
          <c:order val="1"/>
          <c:tx>
            <c:strRef>
              <c:f>Sheet1!$B$1</c:f>
              <c:strCache>
                <c:ptCount val="1"/>
                <c:pt idx="0">
                  <c:v>Cost</c:v>
                </c:pt>
              </c:strCache>
            </c:strRef>
          </c:tx>
          <c:spPr>
            <a:solidFill>
              <a:srgbClr val="ED7D31"/>
            </a:solidFill>
          </c:spP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30</c:v>
                </c:pt>
                <c:pt idx="1">
                  <c:v>41</c:v>
                </c:pt>
                <c:pt idx="2">
                  <c:v>38</c:v>
                </c:pt>
                <c:pt idx="3">
                  <c:v>52</c:v>
                </c:pt>
              </c:numCache>
            </c:numRef>
          </c:val>
        </c:ser>
        <c:axId val="111111111"/>
        <c:axId val="222222222"/>
      </c:radarChart>
      <c:catAx>
        <c:axId val="111111111"/>
        <c:scaling>
          <c:orientation val="minMax"/>
        </c:scaling>
        <c:delete val="0"/>
        <c:axPos val="b"/>
        <c:crossAx val="222222222"/>
      </c:catAx>
      <c:valAx>
        <c:axId val="222222222"/>
        <c:scaling>
          <c:orientation val="minMax"/>
        </c:scaling>
        <c:delete val="0"/>
        <c:axPos val="l"/>
        <c:crossAx val="111111111"/>
      </c:valAx>
    </c:plotArea>
    <c:legend>
      <c:legendPos val="b"/>
      <c:overlay val="0"/>
    </c:legend>
    <c:plotVisOnly val="1"/>
  </c:chart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p>
            <a:r>
              <a:t>Scatter</a:t>
            </a:r>
          </a:p>
        </c:rich>
      </c:tx>
      <c:overlay val="0"/>
    </c:title>
    <c:autoTitleDeleted val="0"/>
    <c:plotArea>
      <c:layout/>
      <c:scatterChart>
        <c:scatterStyle val="marker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spPr>
            <a:ln>
              <a:noFill/>
            </a:ln>
          </c:spPr>
          <c:marker>
            <c:symbol val="circle"/>
            <c:size val="7"/>
            <c:spPr>
              <a:solidFill>
                <a:srgbClr val="4472C4"/>
              </a:solidFill>
            </c:spPr>
          </c:marker>
          <c:xVal>
            <c:numRef>
              <c:f>Sheet1!$B$2:$B$5</c:f>
              <c:numCache>
                <c:formatCode>General</c:formatCode>
                <c:ptCount val="4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</c:numCache>
            </c:numRef>
          </c:xVal>
          <c:yVal>
            <c:numRef>
              <c:f>Sheet1!$B$2:$B$5</c:f>
              <c:numCache>
                <c:formatCode>General</c:formatCode>
                <c:ptCount val="4"/>
                <c:pt idx="0">
                  <c:v>45</c:v>
                </c:pt>
                <c:pt idx="1">
                  <c:v>62</c:v>
                </c:pt>
                <c:pt idx="2">
                  <c:v>58</c:v>
                </c:pt>
                <c:pt idx="3">
                  <c:v>71</c:v>
                </c:pt>
              </c:numCache>
            </c:numRef>
          </c:yVal>
        </c:ser>
        <c:ser>
          <c:idx val="1"/>
          <c:order val="1"/>
          <c:tx>
            <c:strRef>
              <c:f>Sheet1!$B$1</c:f>
              <c:strCache>
                <c:ptCount val="1"/>
                <c:pt idx="0">
                  <c:v>Cost</c:v>
                </c:pt>
              </c:strCache>
            </c:strRef>
          </c:tx>
          <c:spPr>
            <a:ln>
              <a:noFill/>
            </a:ln>
          </c:spPr>
          <c:marker>
            <c:symbol val="circle"/>
            <c:size val="7"/>
            <c:spPr>
              <a:solidFill>
                <a:srgbClr val="ED7D31"/>
              </a:solidFill>
            </c:spPr>
          </c:marker>
          <c:xVal>
            <c:numRef>
              <c:f>Sheet1!$B$2:$B$5</c:f>
              <c:numCache>
                <c:formatCode>General</c:formatCode>
                <c:ptCount val="4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</c:numCache>
            </c:numRef>
          </c:xVal>
          <c:yVal>
            <c:numRef>
              <c:f>Sheet1!$B$2:$B$5</c:f>
              <c:numCache>
                <c:formatCode>General</c:formatCode>
                <c:ptCount val="4"/>
                <c:pt idx="0">
                  <c:v>30</c:v>
                </c:pt>
                <c:pt idx="1">
                  <c:v>41</c:v>
                </c:pt>
                <c:pt idx="2">
                  <c:v>38</c:v>
                </c:pt>
                <c:pt idx="3">
                  <c:v>52</c:v>
                </c:pt>
              </c:numCache>
            </c:numRef>
          </c:yVal>
        </c:ser>
        <c:axId val="111111111"/>
        <c:axId val="222222222"/>
      </c:scatterChart>
      <c:valAx>
        <c:axId val="111111111"/>
        <c:scaling>
          <c:orientation val="minMax"/>
        </c:scaling>
        <c:delete val="0"/>
        <c:axPos val="b"/>
        <c:crossAx val="222222222"/>
      </c:valAx>
      <c:valAx>
        <c:axId val="222222222"/>
        <c:scaling>
          <c:orientation val="minMax"/>
        </c:scaling>
        <c:delete val="0"/>
        <c:axPos val="l"/>
        <c:crossAx val="111111111"/>
      </c:valAx>
    </c:plotArea>
    <c:legend>
      <c:legendPos val="b"/>
      <c:overlay val="0"/>
    </c:legend>
    <c:plotVisOnly val="1"/>
  </c:chart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p>
            <a:r>
              <a:t>Bubble</a:t>
            </a:r>
          </a:p>
        </c:rich>
      </c:tx>
      <c:overlay val="0"/>
    </c:title>
    <c:autoTitleDeleted val="0"/>
    <c:plotArea>
      <c:layout/>
      <c:bubbleChart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spPr>
            <a:solidFill>
              <a:srgbClr val="4472C4"/>
            </a:solidFill>
          </c:spPr>
          <c:xVal>
            <c:numRef>
              <c:f>Sheet1!$B$2:$B$5</c:f>
              <c:numCache>
                <c:formatCode>General</c:formatCode>
                <c:ptCount val="4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</c:numCache>
            </c:numRef>
          </c:xVal>
          <c:yVal>
            <c:numRef>
              <c:f>Sheet1!$B$2:$B$5</c:f>
              <c:numCache>
                <c:formatCode>General</c:formatCode>
                <c:ptCount val="4"/>
                <c:pt idx="0">
                  <c:v>45</c:v>
                </c:pt>
                <c:pt idx="1">
                  <c:v>62</c:v>
                </c:pt>
                <c:pt idx="2">
                  <c:v>58</c:v>
                </c:pt>
                <c:pt idx="3">
                  <c:v>71</c:v>
                </c:pt>
              </c:numCache>
            </c:numRef>
          </c:yVal>
          <c:bubbleSize>
            <c:numRef>
              <c:f>Sheet1!$B$2:$B$5</c:f>
              <c:numCache>
                <c:formatCode>General</c:formatCode>
                <c:ptCount val="4"/>
                <c:pt idx="0">
                  <c:v>6</c:v>
                </c:pt>
                <c:pt idx="1">
                  <c:v>8</c:v>
                </c:pt>
                <c:pt idx="2">
                  <c:v>7</c:v>
                </c:pt>
                <c:pt idx="3">
                  <c:v>9</c:v>
                </c:pt>
              </c:numCache>
            </c:numRef>
          </c:bubbleSize>
        </c:ser>
        <c:ser>
          <c:idx val="1"/>
          <c:order val="1"/>
          <c:tx>
            <c:strRef>
              <c:f>Sheet1!$B$1</c:f>
              <c:strCache>
                <c:ptCount val="1"/>
                <c:pt idx="0">
                  <c:v>Cost</c:v>
                </c:pt>
              </c:strCache>
            </c:strRef>
          </c:tx>
          <c:spPr>
            <a:solidFill>
              <a:srgbClr val="ED7D31"/>
            </a:solidFill>
          </c:spPr>
          <c:xVal>
            <c:numRef>
              <c:f>Sheet1!$B$2:$B$5</c:f>
              <c:numCache>
                <c:formatCode>General</c:formatCode>
                <c:ptCount val="4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</c:numCache>
            </c:numRef>
          </c:xVal>
          <c:yVal>
            <c:numRef>
              <c:f>Sheet1!$B$2:$B$5</c:f>
              <c:numCache>
                <c:formatCode>General</c:formatCode>
                <c:ptCount val="4"/>
                <c:pt idx="0">
                  <c:v>30</c:v>
                </c:pt>
                <c:pt idx="1">
                  <c:v>41</c:v>
                </c:pt>
                <c:pt idx="2">
                  <c:v>38</c:v>
                </c:pt>
                <c:pt idx="3">
                  <c:v>52</c:v>
                </c:pt>
              </c:numCache>
            </c:numRef>
          </c:yVal>
          <c:bubbleSize>
            <c:numRef>
              <c:f>Sheet1!$B$2:$B$5</c:f>
              <c:numCache>
                <c:formatCode>General</c:formatCode>
                <c:ptCount val="4"/>
                <c:pt idx="0">
                  <c:v>4</c:v>
                </c:pt>
                <c:pt idx="1">
                  <c:v>5</c:v>
                </c:pt>
                <c:pt idx="2">
                  <c:v>5</c:v>
                </c:pt>
                <c:pt idx="3">
                  <c:v>7</c:v>
                </c:pt>
              </c:numCache>
            </c:numRef>
          </c:bubbleSize>
        </c:ser>
        <c:axId val="111111111"/>
        <c:axId val="222222222"/>
      </c:bubbleChart>
      <c:valAx>
        <c:axId val="111111111"/>
        <c:scaling>
          <c:orientation val="minMax"/>
        </c:scaling>
        <c:delete val="0"/>
        <c:axPos val="b"/>
        <c:crossAx val="222222222"/>
      </c:valAx>
      <c:valAx>
        <c:axId val="222222222"/>
        <c:scaling>
          <c:orientation val="minMax"/>
        </c:scaling>
        <c:delete val="0"/>
        <c:axPos val="l"/>
        <c:crossAx val="111111111"/>
      </c:valAx>
    </c:plotArea>
    <c:legend>
      <c:legendPos val="b"/>
      <c:overlay val="0"/>
    </c:legend>
    <c:plotVisOnly val="1"/>
  </c:chart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p>
            <a:r>
              <a:t>Stacked Bar</a:t>
            </a:r>
          </a:p>
        </c:rich>
      </c:tx>
      <c:overlay val="0"/>
    </c:title>
    <c:autoTitleDeleted val="0"/>
    <c:plotArea>
      <c:layout/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spPr>
            <a:solidFill>
              <a:srgbClr val="4472C4"/>
            </a:solidFill>
          </c:spP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45</c:v>
                </c:pt>
                <c:pt idx="1">
                  <c:v>62</c:v>
                </c:pt>
                <c:pt idx="2">
                  <c:v>58</c:v>
                </c:pt>
                <c:pt idx="3">
                  <c:v>71</c:v>
                </c:pt>
              </c:numCache>
            </c:numRef>
          </c:val>
        </c:ser>
        <c:ser>
          <c:idx val="1"/>
          <c:order val="1"/>
          <c:tx>
            <c:strRef>
              <c:f>Sheet1!$B$1</c:f>
              <c:strCache>
                <c:ptCount val="1"/>
                <c:pt idx="0">
                  <c:v>Cost</c:v>
                </c:pt>
              </c:strCache>
            </c:strRef>
          </c:tx>
          <c:spPr>
            <a:solidFill>
              <a:srgbClr val="ED7D31"/>
            </a:solidFill>
          </c:spP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30</c:v>
                </c:pt>
                <c:pt idx="1">
                  <c:v>41</c:v>
                </c:pt>
                <c:pt idx="2">
                  <c:v>38</c:v>
                </c:pt>
                <c:pt idx="3">
                  <c:v>52</c:v>
                </c:pt>
              </c:numCache>
            </c:numRef>
          </c:val>
        </c:ser>
        <c:ser>
          <c:idx val="2"/>
          <c:order val="2"/>
          <c:tx>
            <c:strRef>
              <c:f>Sheet1!$B$1</c:f>
              <c:strCache>
                <c:ptCount val="1"/>
                <c:pt idx="0">
                  <c:v>Profit</c:v>
                </c:pt>
              </c:strCache>
            </c:strRef>
          </c:tx>
          <c:spPr>
            <a:solidFill>
              <a:srgbClr val="70AD47"/>
            </a:solidFill>
          </c:spP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18</c:v>
                </c:pt>
                <c:pt idx="1">
                  <c:v>24</c:v>
                </c:pt>
                <c:pt idx="2">
                  <c:v>29</c:v>
                </c:pt>
                <c:pt idx="3">
                  <c:v>33</c:v>
                </c:pt>
              </c:numCache>
            </c:numRef>
          </c:val>
        </c:ser>
        <c:gapWidth val="150"/>
        <c:overlap val="100"/>
        <c:axId val="111111111"/>
        <c:axId val="222222222"/>
      </c:barChart>
      <c:catAx>
        <c:axId val="111111111"/>
        <c:scaling>
          <c:orientation val="minMax"/>
        </c:scaling>
        <c:delete val="0"/>
        <c:axPos val="b"/>
        <c:crossAx val="222222222"/>
      </c:catAx>
      <c:valAx>
        <c:axId val="222222222"/>
        <c:scaling>
          <c:orientation val="minMax"/>
        </c:scaling>
        <c:delete val="0"/>
        <c:axPos val="l"/>
        <c:crossAx val="111111111"/>
      </c:valAx>
    </c:plotArea>
    <c:legend>
      <c:legendPos val="b"/>
      <c:overlay val="0"/>
    </c:legend>
    <c:plotVisOnly val="1"/>
  </c:chart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p>
            <a:r>
              <a:t>Percent Stacked Bar</a:t>
            </a:r>
          </a:p>
        </c:rich>
      </c:tx>
      <c:overlay val="0"/>
    </c:title>
    <c:autoTitleDeleted val="0"/>
    <c:plotArea>
      <c:layout/>
      <c:barChart>
        <c:barDir val="col"/>
        <c:grouping val="percentStacked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spPr>
            <a:solidFill>
              <a:srgbClr val="4472C4"/>
            </a:solidFill>
          </c:spP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45</c:v>
                </c:pt>
                <c:pt idx="1">
                  <c:v>62</c:v>
                </c:pt>
                <c:pt idx="2">
                  <c:v>58</c:v>
                </c:pt>
                <c:pt idx="3">
                  <c:v>71</c:v>
                </c:pt>
              </c:numCache>
            </c:numRef>
          </c:val>
        </c:ser>
        <c:ser>
          <c:idx val="1"/>
          <c:order val="1"/>
          <c:tx>
            <c:strRef>
              <c:f>Sheet1!$B$1</c:f>
              <c:strCache>
                <c:ptCount val="1"/>
                <c:pt idx="0">
                  <c:v>Cost</c:v>
                </c:pt>
              </c:strCache>
            </c:strRef>
          </c:tx>
          <c:spPr>
            <a:solidFill>
              <a:srgbClr val="ED7D31"/>
            </a:solidFill>
          </c:spP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30</c:v>
                </c:pt>
                <c:pt idx="1">
                  <c:v>41</c:v>
                </c:pt>
                <c:pt idx="2">
                  <c:v>38</c:v>
                </c:pt>
                <c:pt idx="3">
                  <c:v>52</c:v>
                </c:pt>
              </c:numCache>
            </c:numRef>
          </c:val>
        </c:ser>
        <c:ser>
          <c:idx val="2"/>
          <c:order val="2"/>
          <c:tx>
            <c:strRef>
              <c:f>Sheet1!$B$1</c:f>
              <c:strCache>
                <c:ptCount val="1"/>
                <c:pt idx="0">
                  <c:v>Profit</c:v>
                </c:pt>
              </c:strCache>
            </c:strRef>
          </c:tx>
          <c:spPr>
            <a:solidFill>
              <a:srgbClr val="70AD47"/>
            </a:solidFill>
          </c:spP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18</c:v>
                </c:pt>
                <c:pt idx="1">
                  <c:v>24</c:v>
                </c:pt>
                <c:pt idx="2">
                  <c:v>29</c:v>
                </c:pt>
                <c:pt idx="3">
                  <c:v>33</c:v>
                </c:pt>
              </c:numCache>
            </c:numRef>
          </c:val>
        </c:ser>
        <c:gapWidth val="150"/>
        <c:overlap val="100"/>
        <c:axId val="111111111"/>
        <c:axId val="222222222"/>
      </c:barChart>
      <c:catAx>
        <c:axId val="111111111"/>
        <c:scaling>
          <c:orientation val="minMax"/>
        </c:scaling>
        <c:delete val="0"/>
        <c:axPos val="b"/>
        <c:crossAx val="222222222"/>
      </c:catAx>
      <c:valAx>
        <c:axId val="222222222"/>
        <c:scaling>
          <c:orientation val="minMax"/>
        </c:scaling>
        <c:delete val="0"/>
        <c:axPos val="l"/>
        <c:crossAx val="111111111"/>
      </c:valAx>
    </c:plotArea>
    <c:legend>
      <c:legendPos val="b"/>
      <c:overlay val="0"/>
    </c:legend>
    <c:plotVisOnly val="1"/>
  </c:chart>
</c:chartSpace>
</file>

<file path=ppt/charts/chart11.xml><?xml version="1.0" encoding="utf-8"?>
<cx:chartSpace xmlns:cx="http://schemas.microsoft.com/office/drawing/2014/chartex" xmlns:a="http://schemas.openxmlformats.org/drawingml/2006/main" xmlns:r="http://schemas.openxmlformats.org/officeDocument/2006/relationships">
  <cx:chartData>
    <cx:data id="0">
      <cx:strDim type="cat">
        <cx:f>Sheet1!$A$2:$A$5</cx:f>
        <cx:lvl ptCount="4">
          <cx:pt idx="0">Q1</cx:pt>
          <cx:pt idx="1">Q2</cx:pt>
          <cx:pt idx="2">Q3</cx:pt>
          <cx:pt idx="3">Q4</cx:pt>
        </cx:lvl>
      </cx:strDim>
      <cx:numDim type="val">
        <cx:f>Sheet1!$B$2:$B$5</cx:f>
        <cx:lvl ptCount="4">
          <cx:pt idx="0">45</cx:pt>
          <cx:pt idx="1">62</cx:pt>
          <cx:pt idx="2">58</cx:pt>
          <cx:pt idx="3">71</cx:pt>
        </cx:lvl>
      </cx:numDim>
    </cx:data>
  </cx:chartData>
  <cx:chart>
    <cx:title>
      <cx:tx>
        <cx:rich>
          <a:p>
            <a:r>
              <a:t>Funnel</a:t>
            </a:r>
          </a:p>
        </cx:rich>
      </cx:tx>
    </cx:title>
    <cx:plotArea>
      <cx:plotAreaRegion>
        <cx:series layoutId="funnel" uniqueId="{00000000-0000-0000-0000-000000000000}">
          <cx:tx>
            <cx:txData>
              <cx:f>Sheet1!$B$1</cx:f>
              <cx:v>Revenue</cx:v>
            </cx:txData>
          </cx:tx>
          <cx:spPr>
            <a:solidFill>
              <a:srgbClr val="4472C4"/>
            </a:solidFill>
          </cx:spPr>
          <cx:dataId val="0"/>
        </cx:series>
      </cx:plotAreaRegion>
    </cx:plotArea>
    <cx:legend pos="b"/>
  </cx:chart>
</cx:chartSpace>
</file>

<file path=ppt/charts/chart12.xml><?xml version="1.0" encoding="utf-8"?>
<cx:chartSpace xmlns:cx="http://schemas.microsoft.com/office/drawing/2014/chartex" xmlns:a="http://schemas.openxmlformats.org/drawingml/2006/main" xmlns:r="http://schemas.openxmlformats.org/officeDocument/2006/relationships">
  <cx:chartData>
    <cx:data id="0">
      <cx:strDim type="cat">
        <cx:f>Sheet1!$A$2:$A$5</cx:f>
        <cx:lvl ptCount="4">
          <cx:pt idx="0">Q1</cx:pt>
          <cx:pt idx="1">Q2</cx:pt>
          <cx:pt idx="2">Q3</cx:pt>
          <cx:pt idx="3">Q4</cx:pt>
        </cx:lvl>
      </cx:strDim>
      <cx:numDim type="val">
        <cx:f>Sheet1!$B$2:$B$5</cx:f>
        <cx:lvl ptCount="4">
          <cx:pt idx="0">45</cx:pt>
          <cx:pt idx="1">62</cx:pt>
          <cx:pt idx="2">58</cx:pt>
          <cx:pt idx="3">71</cx:pt>
        </cx:lvl>
      </cx:numDim>
    </cx:data>
    <cx:data id="1">
      <cx:strDim type="cat">
        <cx:f>Sheet1!$A$2:$A$5</cx:f>
        <cx:lvl ptCount="4">
          <cx:pt idx="0">Q1</cx:pt>
          <cx:pt idx="1">Q2</cx:pt>
          <cx:pt idx="2">Q3</cx:pt>
          <cx:pt idx="3">Q4</cx:pt>
        </cx:lvl>
      </cx:strDim>
      <cx:numDim type="val">
        <cx:f>Sheet1!$B$2:$B$5</cx:f>
        <cx:lvl ptCount="4">
          <cx:pt idx="0">30</cx:pt>
          <cx:pt idx="1">41</cx:pt>
          <cx:pt idx="2">38</cx:pt>
          <cx:pt idx="3">52</cx:pt>
        </cx:lvl>
      </cx:numDim>
    </cx:data>
  </cx:chartData>
  <cx:chart>
    <cx:title>
      <cx:tx>
        <cx:rich>
          <a:p>
            <a:r>
              <a:t>Sunburst</a:t>
            </a:r>
          </a:p>
        </cx:rich>
      </cx:tx>
    </cx:title>
    <cx:plotArea>
      <cx:plotAreaRegion>
        <cx:series layoutId="sunburst" uniqueId="{00000000-0000-0000-0000-000000000000}">
          <cx:tx>
            <cx:txData>
              <cx:f>Sheet1!$B$1</cx:f>
              <cx:v>Revenue</cx:v>
            </cx:txData>
          </cx:tx>
          <cx:spPr>
            <a:solidFill>
              <a:srgbClr val="4472C4"/>
            </a:solidFill>
          </cx:spPr>
          <cx:dataId val="0"/>
        </cx:series>
        <cx:series layoutId="sunburst" uniqueId="{00000001-0000-0000-0000-000000000000}">
          <cx:tx>
            <cx:txData>
              <cx:f>Sheet1!$B$1</cx:f>
              <cx:v>Cost</cx:v>
            </cx:txData>
          </cx:tx>
          <cx:spPr>
            <a:solidFill>
              <a:srgbClr val="ED7D31"/>
            </a:solidFill>
          </cx:spPr>
          <cx:dataId val="1"/>
        </cx:series>
      </cx:plotAreaRegion>
    </cx:plotArea>
    <cx:legend pos="b"/>
  </cx:chart>
</cx:chartSpace>
</file>

<file path=ppt/charts/chart13.xml><?xml version="1.0" encoding="utf-8"?>
<cx:chartSpace xmlns:cx="http://schemas.microsoft.com/office/drawing/2014/chartex" xmlns:a="http://schemas.openxmlformats.org/drawingml/2006/main" xmlns:r="http://schemas.openxmlformats.org/officeDocument/2006/relationships">
  <cx:chartData>
    <cx:data id="0">
      <cx:strDim type="cat">
        <cx:f>Sheet1!$A$2:$A$5</cx:f>
        <cx:lvl ptCount="4">
          <cx:pt idx="0">Q1</cx:pt>
          <cx:pt idx="1">Q2</cx:pt>
          <cx:pt idx="2">Q3</cx:pt>
          <cx:pt idx="3">Q4</cx:pt>
        </cx:lvl>
      </cx:strDim>
      <cx:numDim type="val">
        <cx:f>Sheet1!$B$2:$B$5</cx:f>
        <cx:lvl ptCount="4">
          <cx:pt idx="0">45</cx:pt>
          <cx:pt idx="1">62</cx:pt>
          <cx:pt idx="2">58</cx:pt>
          <cx:pt idx="3">71</cx:pt>
        </cx:lvl>
      </cx:numDim>
    </cx:data>
  </cx:chartData>
  <cx:chart>
    <cx:title>
      <cx:tx>
        <cx:rich>
          <a:p>
            <a:r>
              <a:t>Histogram</a:t>
            </a:r>
          </a:p>
        </cx:rich>
      </cx:tx>
    </cx:title>
    <cx:plotArea>
      <cx:plotAreaRegion>
        <cx:series layoutId="histogram" uniqueId="{00000000-0000-0000-0000-000000000000}">
          <cx:tx>
            <cx:txData>
              <cx:f>Sheet1!$B$1</cx:f>
              <cx:v>Revenue</cx:v>
            </cx:txData>
          </cx:tx>
          <cx:spPr>
            <a:solidFill>
              <a:srgbClr val="4472C4"/>
            </a:solidFill>
          </cx:spPr>
          <cx:dataId val="0"/>
        </cx:series>
      </cx:plotAreaRegion>
    </cx:plotArea>
    <cx:legend pos="b"/>
  </cx:chart>
</cx:chartSpace>
</file>

<file path=ppt/charts/chart14.xml><?xml version="1.0" encoding="utf-8"?>
<cx:chartSpace xmlns:cx="http://schemas.microsoft.com/office/drawing/2014/chartex" xmlns:a="http://schemas.openxmlformats.org/drawingml/2006/main" xmlns:r="http://schemas.openxmlformats.org/officeDocument/2006/relationships">
  <cx:chartData>
    <cx:data id="0">
      <cx:strDim type="cat">
        <cx:f>Sheet1!$A$2:$A$5</cx:f>
        <cx:lvl ptCount="4">
          <cx:pt idx="0">Q1</cx:pt>
          <cx:pt idx="1">Q2</cx:pt>
          <cx:pt idx="2">Q3</cx:pt>
          <cx:pt idx="3">Q4</cx:pt>
        </cx:lvl>
      </cx:strDim>
      <cx:numDim type="val">
        <cx:f>Sheet1!$B$2:$B$5</cx:f>
        <cx:lvl ptCount="4">
          <cx:pt idx="0">45</cx:pt>
          <cx:pt idx="1">62</cx:pt>
          <cx:pt idx="2">58</cx:pt>
          <cx:pt idx="3">71</cx:pt>
        </cx:lvl>
      </cx:numDim>
    </cx:data>
    <cx:data id="1">
      <cx:strDim type="cat">
        <cx:f>Sheet1!$A$2:$A$5</cx:f>
        <cx:lvl ptCount="4">
          <cx:pt idx="0">Q1</cx:pt>
          <cx:pt idx="1">Q2</cx:pt>
          <cx:pt idx="2">Q3</cx:pt>
          <cx:pt idx="3">Q4</cx:pt>
        </cx:lvl>
      </cx:strDim>
      <cx:numDim type="val">
        <cx:f>Sheet1!$B$2:$B$5</cx:f>
        <cx:lvl ptCount="4">
          <cx:pt idx="0">30</cx:pt>
          <cx:pt idx="1">41</cx:pt>
          <cx:pt idx="2">38</cx:pt>
          <cx:pt idx="3">52</cx:pt>
        </cx:lvl>
      </cx:numDim>
    </cx:data>
    <cx:data id="2">
      <cx:strDim type="cat">
        <cx:f>Sheet1!$A$2:$A$5</cx:f>
        <cx:lvl ptCount="4">
          <cx:pt idx="0">Q1</cx:pt>
          <cx:pt idx="1">Q2</cx:pt>
          <cx:pt idx="2">Q3</cx:pt>
          <cx:pt idx="3">Q4</cx:pt>
        </cx:lvl>
      </cx:strDim>
      <cx:numDim type="val">
        <cx:f>Sheet1!$B$2:$B$5</cx:f>
        <cx:lvl ptCount="4">
          <cx:pt idx="0">18</cx:pt>
          <cx:pt idx="1">24</cx:pt>
          <cx:pt idx="2">29</cx:pt>
          <cx:pt idx="3">33</cx:pt>
        </cx:lvl>
      </cx:numDim>
    </cx:data>
  </cx:chartData>
  <cx:chart>
    <cx:title>
      <cx:tx>
        <cx:rich>
          <a:p>
            <a:r>
              <a:t>Box-Whisker</a:t>
            </a:r>
          </a:p>
        </cx:rich>
      </cx:tx>
    </cx:title>
    <cx:plotArea>
      <cx:plotAreaRegion>
        <cx:series layoutId="boxWhisker" uniqueId="{00000000-0000-0000-0000-000000000000}">
          <cx:tx>
            <cx:txData>
              <cx:f>Sheet1!$B$1</cx:f>
              <cx:v>Revenue</cx:v>
            </cx:txData>
          </cx:tx>
          <cx:spPr>
            <a:solidFill>
              <a:srgbClr val="4472C4"/>
            </a:solidFill>
          </cx:spPr>
          <cx:dataId val="0"/>
        </cx:series>
        <cx:series layoutId="boxWhisker" uniqueId="{00000001-0000-0000-0000-000000000000}">
          <cx:tx>
            <cx:txData>
              <cx:f>Sheet1!$B$1</cx:f>
              <cx:v>Cost</cx:v>
            </cx:txData>
          </cx:tx>
          <cx:spPr>
            <a:solidFill>
              <a:srgbClr val="ED7D31"/>
            </a:solidFill>
          </cx:spPr>
          <cx:dataId val="1"/>
        </cx:series>
        <cx:series layoutId="boxWhisker" uniqueId="{00000002-0000-0000-0000-000000000000}">
          <cx:tx>
            <cx:txData>
              <cx:f>Sheet1!$B$1</cx:f>
              <cx:v>Profit</cx:v>
            </cx:txData>
          </cx:tx>
          <cx:spPr>
            <a:solidFill>
              <a:srgbClr val="70AD47"/>
            </a:solidFill>
          </cx:spPr>
          <cx:dataId val="2"/>
        </cx:series>
      </cx:plotAreaRegion>
    </cx:plotArea>
    <cx:legend pos="b"/>
  </cx:chart>
</cx:chartSpace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2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3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4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5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6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7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8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9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10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1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slideLayout" Target="../slideLayouts/slideLayout2.xml"/>
  <Relationship Id="rId3" Type="http://schemas.openxmlformats.org/officeDocument/2006/relationships/slideLayout" Target="../slideLayouts/slideLayout3.xml"/>
  <Relationship Id="rId4" Type="http://schemas.openxmlformats.org/officeDocument/2006/relationships/slideLayout" Target="../slideLayouts/slideLayout4.xml"/>
  <Relationship Id="rId5" Type="http://schemas.openxmlformats.org/officeDocument/2006/relationships/slideLayout" Target="../slideLayouts/slideLayout5.xml"/>
  <Relationship Id="rId6" Type="http://schemas.openxmlformats.org/officeDocument/2006/relationships/slideLayout" Target="../slideLayouts/slideLayout6.xml"/>
  <Relationship Id="rId7" Type="http://schemas.openxmlformats.org/officeDocument/2006/relationships/slideLayout" Target="../slideLayouts/slideLayout7.xml"/>
  <Relationship Id="rId8" Type="http://schemas.openxmlformats.org/officeDocument/2006/relationships/slideLayout" Target="../slideLayouts/slideLayout8.xml"/>
  <Relationship Id="rId9" Type="http://schemas.openxmlformats.org/officeDocument/2006/relationships/slideLayout" Target="../slideLayouts/slideLayout9.xml"/>
  <Relationship Id="rId10" Type="http://schemas.openxmlformats.org/officeDocument/2006/relationships/slideLayout" Target="../slideLayouts/slideLayout10.xml"/>
  <Relationship Id="rId11" Type="http://schemas.openxmlformats.org/officeDocument/2006/relationships/slideLayout" Target="../slideLayouts/slideLayout11.xml"/>
  <Relationship Id="rId1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spcBef>
          <a:spcPct val="0"/>
        </a:spcBef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</p:bodyStyle>
    <p:otherStyle>
      <a:defPPr>
        <a:defRPr lang="en-US"/>
      </a:defPPr>
    </p:otherStyle>
  </p:txStyles>
</p:sldMaster>
</file>

<file path=ppt/slides/_rels/slide1.xml.rels><Relationships xmlns="http://schemas.openxmlformats.org/package/2006/relationships"><Relationship Id="rId1" Type="http://schemas.openxmlformats.org/officeDocument/2006/relationships/slideLayout" Target="../slideLayouts/slideLayout1.xml"></Relationship><Relationship Id="rId2" Type="http://schemas.openxmlformats.org/officeDocument/2006/relationships/chart" Target="../charts/chart1.xml"/></Relationships>
</file>

<file path=ppt/slides/_rels/slide2.xml.rels><Relationships xmlns="http://schemas.openxmlformats.org/package/2006/relationships"><Relationship Id="rId1" Type="http://schemas.openxmlformats.org/officeDocument/2006/relationships/slideLayout" Target="../slideLayouts/slideLayout1.xml"></Relationship><Relationship Id="rId2" Type="http://schemas.openxmlformats.org/officeDocument/2006/relationships/chart" Target="../charts/chart2.xml"/></Relationships>
</file>

<file path=ppt/slides/_rels/slide3.xml.rels><Relationships xmlns="http://schemas.openxmlformats.org/package/2006/relationships"><Relationship Id="rId1" Type="http://schemas.openxmlformats.org/officeDocument/2006/relationships/slideLayout" Target="../slideLayouts/slideLayout1.xml"></Relationship><Relationship Id="rId2" Type="http://schemas.openxmlformats.org/officeDocument/2006/relationships/chart" Target="../charts/chart3.xml"/></Relationships>
</file>

<file path=ppt/slides/_rels/slide4.xml.rels><Relationships xmlns="http://schemas.openxmlformats.org/package/2006/relationships"><Relationship Id="rId1" Type="http://schemas.openxmlformats.org/officeDocument/2006/relationships/slideLayout" Target="../slideLayouts/slideLayout1.xml"></Relationship><Relationship Id="rId2" Type="http://schemas.openxmlformats.org/officeDocument/2006/relationships/chart" Target="../charts/chart4.xml"/></Relationships>
</file>

<file path=ppt/slides/_rels/slide5.xml.rels><Relationships xmlns="http://schemas.openxmlformats.org/package/2006/relationships"><Relationship Id="rId1" Type="http://schemas.openxmlformats.org/officeDocument/2006/relationships/slideLayout" Target="../slideLayouts/slideLayout1.xml"></Relationship><Relationship Id="rId2" Type="http://schemas.openxmlformats.org/officeDocument/2006/relationships/chart" Target="../charts/chart5.xml"/></Relationships>
</file>

<file path=ppt/slides/_rels/slide6.xml.rels><Relationships xmlns="http://schemas.openxmlformats.org/package/2006/relationships"><Relationship Id="rId1" Type="http://schemas.openxmlformats.org/officeDocument/2006/relationships/slideLayout" Target="../slideLayouts/slideLayout1.xml"></Relationship><Relationship Id="rId2" Type="http://schemas.openxmlformats.org/officeDocument/2006/relationships/chart" Target="../charts/chart6.xml"/></Relationships>
</file>

<file path=ppt/slides/_rels/slide7.xml.rels><Relationships xmlns="http://schemas.openxmlformats.org/package/2006/relationships"><Relationship Id="rId1" Type="http://schemas.openxmlformats.org/officeDocument/2006/relationships/slideLayout" Target="../slideLayouts/slideLayout1.xml"></Relationship><Relationship Id="rId2" Type="http://schemas.openxmlformats.org/officeDocument/2006/relationships/chart" Target="../charts/chart7.xml"/></Relationships>
</file>

<file path=ppt/slides/_rels/slide8.xml.rels><Relationships xmlns="http://schemas.openxmlformats.org/package/2006/relationships"><Relationship Id="rId1" Type="http://schemas.openxmlformats.org/officeDocument/2006/relationships/slideLayout" Target="../slideLayouts/slideLayout1.xml"></Relationship><Relationship Id="rId2" Type="http://schemas.openxmlformats.org/officeDocument/2006/relationships/chart" Target="../charts/chart8.xml"/></Relationships>
</file>

<file path=ppt/slides/_rels/slide9.xml.rels><Relationships xmlns="http://schemas.openxmlformats.org/package/2006/relationships"><Relationship Id="rId1" Type="http://schemas.openxmlformats.org/officeDocument/2006/relationships/slideLayout" Target="../slideLayouts/slideLayout1.xml"></Relationship><Relationship Id="rId2" Type="http://schemas.openxmlformats.org/officeDocument/2006/relationships/chart" Target="../charts/chart9.xml"/></Relationships>
</file>

<file path=ppt/slides/_rels/slide10.xml.rels><Relationships xmlns="http://schemas.openxmlformats.org/package/2006/relationships"><Relationship Id="rId1" Type="http://schemas.openxmlformats.org/officeDocument/2006/relationships/slideLayout" Target="../slideLayouts/slideLayout1.xml"></Relationship><Relationship Id="rId2" Type="http://schemas.openxmlformats.org/officeDocument/2006/relationships/chart" Target="../charts/chart10.xml"/></Relationships>
</file>

<file path=ppt/slides/_rels/slide11.xml.rels><Relationships xmlns="http://schemas.openxmlformats.org/package/2006/relationships"><Relationship Id="rId1" Type="http://schemas.openxmlformats.org/officeDocument/2006/relationships/slideLayout" Target="../slideLayouts/slideLayout1.xml"></Relationship><Relationship Id="rId2" Type="http://schemas.microsoft.com/office/2014/relationships/chartEx" Target="../charts/chart11.xml"/></Relationships>
</file>

<file path=ppt/slides/_rels/slide12.xml.rels><Relationships xmlns="http://schemas.openxmlformats.org/package/2006/relationships"><Relationship Id="rId1" Type="http://schemas.openxmlformats.org/officeDocument/2006/relationships/slideLayout" Target="../slideLayouts/slideLayout1.xml"></Relationship><Relationship Id="rId2" Type="http://schemas.microsoft.com/office/2014/relationships/chartEx" Target="../charts/chart12.xml"/></Relationships>
</file>

<file path=ppt/slides/_rels/slide13.xml.rels><Relationships xmlns="http://schemas.openxmlformats.org/package/2006/relationships"><Relationship Id="rId1" Type="http://schemas.openxmlformats.org/officeDocument/2006/relationships/slideLayout" Target="../slideLayouts/slideLayout1.xml"></Relationship><Relationship Id="rId2" Type="http://schemas.microsoft.com/office/2014/relationships/chartEx" Target="../charts/chart13.xml"/></Relationships>
</file>

<file path=ppt/slides/_rels/slide14.xml.rels><Relationships xmlns="http://schemas.openxmlformats.org/package/2006/relationships"><Relationship Id="rId1" Type="http://schemas.openxmlformats.org/officeDocument/2006/relationships/slideLayout" Target="../slideLayouts/slideLayout1.xml"></Relationship><Relationship Id="rId2" Type="http://schemas.microsoft.com/office/2014/relationships/chartEx" Target="../charts/chart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 txBox="0"/>
          <p:nvPr/>
        </p:nvSpPr>
        <p:spPr>
          <a:xfrm>
            <a:off x="0" y="0"/>
            <a:ext cx="9525" cy="9525"/>
          </a:xfrm>
          <a:prstGeom prst="rect">
            <a:avLst/>
          </a:prstGeom>
          <a:noFill/>
        </p:spPr>
        <p:txBody>
          <a:bodyPr wrap="square"/>
          <a:lstStyle/>
          <a:p>
            <a:pPr/>
            <a:r>
              <a:rPr lang="en-US" dirty="0"/>
              <a:t>Clustered Bar</a:t>
            </a:r>
            <a:endParaRPr lang="en-US"/>
          </a:p>
        </p:txBody>
      </p:sp>
      <p:graphicFrame>
        <p:nvGraphicFramePr>
          <p:cNvPr id="101" name="Chart 1"/>
          <p:cNvGraphicFramePr/>
          <p:nvPr/>
        </p:nvGraphicFramePr>
        <p:xfrm>
          <a:off x="571500" y="571500"/>
          <a:ext cx="8001000" cy="4000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 txBox="0"/>
          <p:nvPr/>
        </p:nvSpPr>
        <p:spPr>
          <a:xfrm>
            <a:off x="0" y="0"/>
            <a:ext cx="9525" cy="9525"/>
          </a:xfrm>
          <a:prstGeom prst="rect">
            <a:avLst/>
          </a:prstGeom>
          <a:noFill/>
        </p:spPr>
        <p:txBody>
          <a:bodyPr wrap="square"/>
          <a:lstStyle/>
          <a:p>
            <a:pPr/>
            <a:r>
              <a:rPr lang="en-US" dirty="0"/>
              <a:t>Line (with trendline)</a:t>
            </a:r>
            <a:endParaRPr lang="en-US"/>
          </a:p>
        </p:txBody>
      </p:sp>
      <p:graphicFrame>
        <p:nvGraphicFramePr>
          <p:cNvPr id="102" name="Chart 2"/>
          <p:cNvGraphicFramePr/>
          <p:nvPr/>
        </p:nvGraphicFramePr>
        <p:xfrm>
          <a:off x="571500" y="571500"/>
          <a:ext cx="8001000" cy="4000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3"/>
          <p:cNvSpPr txBox="0"/>
          <p:nvPr/>
        </p:nvSpPr>
        <p:spPr>
          <a:xfrm>
            <a:off x="0" y="0"/>
            <a:ext cx="9525" cy="9525"/>
          </a:xfrm>
          <a:prstGeom prst="rect">
            <a:avLst/>
          </a:prstGeom>
          <a:noFill/>
        </p:spPr>
        <p:txBody>
          <a:bodyPr wrap="square"/>
          <a:lstStyle/>
          <a:p>
            <a:pPr/>
            <a:r>
              <a:rPr lang="en-US" dirty="0"/>
              <a:t>Area</a:t>
            </a:r>
            <a:endParaRPr lang="en-US"/>
          </a:p>
        </p:txBody>
      </p:sp>
      <p:graphicFrame>
        <p:nvGraphicFramePr>
          <p:cNvPr id="103" name="Chart 3"/>
          <p:cNvGraphicFramePr/>
          <p:nvPr/>
        </p:nvGraphicFramePr>
        <p:xfrm>
          <a:off x="571500" y="571500"/>
          <a:ext cx="8001000" cy="4000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4"/>
          <p:cNvSpPr txBox="0"/>
          <p:nvPr/>
        </p:nvSpPr>
        <p:spPr>
          <a:xfrm>
            <a:off x="0" y="0"/>
            <a:ext cx="9525" cy="9525"/>
          </a:xfrm>
          <a:prstGeom prst="rect">
            <a:avLst/>
          </a:prstGeom>
          <a:noFill/>
        </p:spPr>
        <p:txBody>
          <a:bodyPr wrap="square"/>
          <a:lstStyle/>
          <a:p>
            <a:pPr/>
            <a:r>
              <a:rPr lang="en-US" dirty="0"/>
              <a:t>Pie</a:t>
            </a:r>
            <a:endParaRPr lang="en-US"/>
          </a:p>
        </p:txBody>
      </p:sp>
      <p:graphicFrame>
        <p:nvGraphicFramePr>
          <p:cNvPr id="104" name="Chart 4"/>
          <p:cNvGraphicFramePr/>
          <p:nvPr/>
        </p:nvGraphicFramePr>
        <p:xfrm>
          <a:off x="571500" y="571500"/>
          <a:ext cx="8001000" cy="4000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5"/>
          <p:cNvSpPr txBox="0"/>
          <p:nvPr/>
        </p:nvSpPr>
        <p:spPr>
          <a:xfrm>
            <a:off x="0" y="0"/>
            <a:ext cx="9525" cy="9525"/>
          </a:xfrm>
          <a:prstGeom prst="rect">
            <a:avLst/>
          </a:prstGeom>
          <a:noFill/>
        </p:spPr>
        <p:txBody>
          <a:bodyPr wrap="square"/>
          <a:lstStyle/>
          <a:p>
            <a:pPr/>
            <a:r>
              <a:rPr lang="en-US" dirty="0"/>
              <a:t>Doughnut</a:t>
            </a:r>
            <a:endParaRPr lang="en-US"/>
          </a:p>
        </p:txBody>
      </p:sp>
      <p:graphicFrame>
        <p:nvGraphicFramePr>
          <p:cNvPr id="105" name="Chart 5"/>
          <p:cNvGraphicFramePr/>
          <p:nvPr/>
        </p:nvGraphicFramePr>
        <p:xfrm>
          <a:off x="571500" y="571500"/>
          <a:ext cx="8001000" cy="4000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6"/>
          <p:cNvSpPr txBox="0"/>
          <p:nvPr/>
        </p:nvSpPr>
        <p:spPr>
          <a:xfrm>
            <a:off x="0" y="0"/>
            <a:ext cx="9525" cy="9525"/>
          </a:xfrm>
          <a:prstGeom prst="rect">
            <a:avLst/>
          </a:prstGeom>
          <a:noFill/>
        </p:spPr>
        <p:txBody>
          <a:bodyPr wrap="square"/>
          <a:lstStyle/>
          <a:p>
            <a:pPr/>
            <a:r>
              <a:rPr lang="en-US" dirty="0"/>
              <a:t>Radar</a:t>
            </a:r>
            <a:endParaRPr lang="en-US"/>
          </a:p>
        </p:txBody>
      </p:sp>
      <p:graphicFrame>
        <p:nvGraphicFramePr>
          <p:cNvPr id="106" name="Chart 6"/>
          <p:cNvGraphicFramePr/>
          <p:nvPr/>
        </p:nvGraphicFramePr>
        <p:xfrm>
          <a:off x="571500" y="571500"/>
          <a:ext cx="8001000" cy="4000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 txBox="0"/>
          <p:nvPr/>
        </p:nvSpPr>
        <p:spPr>
          <a:xfrm>
            <a:off x="0" y="0"/>
            <a:ext cx="9525" cy="9525"/>
          </a:xfrm>
          <a:prstGeom prst="rect">
            <a:avLst/>
          </a:prstGeom>
          <a:noFill/>
        </p:spPr>
        <p:txBody>
          <a:bodyPr wrap="square"/>
          <a:lstStyle/>
          <a:p>
            <a:pPr/>
            <a:r>
              <a:rPr lang="en-US" dirty="0"/>
              <a:t>Scatter</a:t>
            </a:r>
            <a:endParaRPr lang="en-US"/>
          </a:p>
        </p:txBody>
      </p:sp>
      <p:graphicFrame>
        <p:nvGraphicFramePr>
          <p:cNvPr id="107" name="Chart 7"/>
          <p:cNvGraphicFramePr/>
          <p:nvPr/>
        </p:nvGraphicFramePr>
        <p:xfrm>
          <a:off x="571500" y="571500"/>
          <a:ext cx="8001000" cy="4000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8"/>
          <p:cNvSpPr txBox="0"/>
          <p:nvPr/>
        </p:nvSpPr>
        <p:spPr>
          <a:xfrm>
            <a:off x="0" y="0"/>
            <a:ext cx="9525" cy="9525"/>
          </a:xfrm>
          <a:prstGeom prst="rect">
            <a:avLst/>
          </a:prstGeom>
          <a:noFill/>
        </p:spPr>
        <p:txBody>
          <a:bodyPr wrap="square"/>
          <a:lstStyle/>
          <a:p>
            <a:pPr/>
            <a:r>
              <a:rPr lang="en-US" dirty="0"/>
              <a:t>Bubble</a:t>
            </a:r>
            <a:endParaRPr lang="en-US"/>
          </a:p>
        </p:txBody>
      </p:sp>
      <p:graphicFrame>
        <p:nvGraphicFramePr>
          <p:cNvPr id="108" name="Chart 8"/>
          <p:cNvGraphicFramePr/>
          <p:nvPr/>
        </p:nvGraphicFramePr>
        <p:xfrm>
          <a:off x="571500" y="571500"/>
          <a:ext cx="8001000" cy="4000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9"/>
          <p:cNvSpPr txBox="0"/>
          <p:nvPr/>
        </p:nvSpPr>
        <p:spPr>
          <a:xfrm>
            <a:off x="0" y="0"/>
            <a:ext cx="9525" cy="9525"/>
          </a:xfrm>
          <a:prstGeom prst="rect">
            <a:avLst/>
          </a:prstGeom>
          <a:noFill/>
        </p:spPr>
        <p:txBody>
          <a:bodyPr wrap="square"/>
          <a:lstStyle/>
          <a:p>
            <a:pPr/>
            <a:r>
              <a:rPr lang="en-US" dirty="0"/>
              <a:t>Stacked Bar</a:t>
            </a:r>
            <a:endParaRPr lang="en-US"/>
          </a:p>
        </p:txBody>
      </p:sp>
      <p:graphicFrame>
        <p:nvGraphicFramePr>
          <p:cNvPr id="109" name="Chart 9"/>
          <p:cNvGraphicFramePr/>
          <p:nvPr/>
        </p:nvGraphicFramePr>
        <p:xfrm>
          <a:off x="571500" y="571500"/>
          <a:ext cx="8001000" cy="4000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10"/>
          <p:cNvSpPr txBox="0"/>
          <p:nvPr/>
        </p:nvSpPr>
        <p:spPr>
          <a:xfrm>
            <a:off x="0" y="0"/>
            <a:ext cx="9525" cy="9525"/>
          </a:xfrm>
          <a:prstGeom prst="rect">
            <a:avLst/>
          </a:prstGeom>
          <a:noFill/>
        </p:spPr>
        <p:txBody>
          <a:bodyPr wrap="square"/>
          <a:lstStyle/>
          <a:p>
            <a:pPr/>
            <a:r>
              <a:rPr lang="en-US" dirty="0"/>
              <a:t>Percent Stacked Bar</a:t>
            </a:r>
            <a:endParaRPr lang="en-US"/>
          </a:p>
        </p:txBody>
      </p:sp>
      <p:graphicFrame>
        <p:nvGraphicFramePr>
          <p:cNvPr id="110" name="Chart 10"/>
          <p:cNvGraphicFramePr/>
          <p:nvPr/>
        </p:nvGraphicFramePr>
        <p:xfrm>
          <a:off x="571500" y="571500"/>
          <a:ext cx="8001000" cy="4000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1"/>
          <p:cNvSpPr txBox="0"/>
          <p:nvPr/>
        </p:nvSpPr>
        <p:spPr>
          <a:xfrm>
            <a:off x="0" y="0"/>
            <a:ext cx="9525" cy="9525"/>
          </a:xfrm>
          <a:prstGeom prst="rect">
            <a:avLst/>
          </a:prstGeom>
          <a:noFill/>
        </p:spPr>
        <p:txBody>
          <a:bodyPr wrap="square"/>
          <a:lstStyle/>
          <a:p>
            <a:pPr/>
            <a:r>
              <a:rPr lang="en-US" dirty="0"/>
              <a:t>Funnel</a:t>
            </a:r>
            <a:endParaRPr lang="en-US"/>
          </a:p>
        </p:txBody>
      </p:sp>
      <p:graphicFrame>
        <p:nvGraphicFramePr>
          <p:cNvPr id="111" name="Chart 11"/>
          <p:cNvGraphicFramePr/>
          <p:nvPr/>
        </p:nvGraphicFramePr>
        <p:xfrm>
          <a:off x="571500" y="571500"/>
          <a:ext cx="8001000" cy="4000500"/>
        </p:xfrm>
        <a:graphic>
          <a:graphicData uri="http://schemas.microsoft.com/office/drawing/2014/chartex">
            <cx:chart xmlns:cx="http://schemas.microsoft.com/office/drawing/2014/chartex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2"/>
          <p:cNvSpPr txBox="0"/>
          <p:nvPr/>
        </p:nvSpPr>
        <p:spPr>
          <a:xfrm>
            <a:off x="0" y="0"/>
            <a:ext cx="9525" cy="9525"/>
          </a:xfrm>
          <a:prstGeom prst="rect">
            <a:avLst/>
          </a:prstGeom>
          <a:noFill/>
        </p:spPr>
        <p:txBody>
          <a:bodyPr wrap="square"/>
          <a:lstStyle/>
          <a:p>
            <a:pPr/>
            <a:r>
              <a:rPr lang="en-US" dirty="0"/>
              <a:t>Sunburst</a:t>
            </a:r>
            <a:endParaRPr lang="en-US"/>
          </a:p>
        </p:txBody>
      </p:sp>
      <p:graphicFrame>
        <p:nvGraphicFramePr>
          <p:cNvPr id="112" name="Chart 12"/>
          <p:cNvGraphicFramePr/>
          <p:nvPr/>
        </p:nvGraphicFramePr>
        <p:xfrm>
          <a:off x="571500" y="571500"/>
          <a:ext cx="8001000" cy="4000500"/>
        </p:xfrm>
        <a:graphic>
          <a:graphicData uri="http://schemas.microsoft.com/office/drawing/2014/chartex">
            <cx:chart xmlns:cx="http://schemas.microsoft.com/office/drawing/2014/chartex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3"/>
          <p:cNvSpPr txBox="0"/>
          <p:nvPr/>
        </p:nvSpPr>
        <p:spPr>
          <a:xfrm>
            <a:off x="0" y="0"/>
            <a:ext cx="9525" cy="9525"/>
          </a:xfrm>
          <a:prstGeom prst="rect">
            <a:avLst/>
          </a:prstGeom>
          <a:noFill/>
        </p:spPr>
        <p:txBody>
          <a:bodyPr wrap="square"/>
          <a:lstStyle/>
          <a:p>
            <a:pPr/>
            <a:r>
              <a:rPr lang="en-US" dirty="0"/>
              <a:t>Histogram</a:t>
            </a:r>
            <a:endParaRPr lang="en-US"/>
          </a:p>
        </p:txBody>
      </p:sp>
      <p:graphicFrame>
        <p:nvGraphicFramePr>
          <p:cNvPr id="113" name="Chart 13"/>
          <p:cNvGraphicFramePr/>
          <p:nvPr/>
        </p:nvGraphicFramePr>
        <p:xfrm>
          <a:off x="571500" y="571500"/>
          <a:ext cx="8001000" cy="4000500"/>
        </p:xfrm>
        <a:graphic>
          <a:graphicData uri="http://schemas.microsoft.com/office/drawing/2014/chartex">
            <cx:chart xmlns:cx="http://schemas.microsoft.com/office/drawing/2014/chartex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4"/>
          <p:cNvSpPr txBox="0"/>
          <p:nvPr/>
        </p:nvSpPr>
        <p:spPr>
          <a:xfrm>
            <a:off x="0" y="0"/>
            <a:ext cx="9525" cy="9525"/>
          </a:xfrm>
          <a:prstGeom prst="rect">
            <a:avLst/>
          </a:prstGeom>
          <a:noFill/>
        </p:spPr>
        <p:txBody>
          <a:bodyPr wrap="square"/>
          <a:lstStyle/>
          <a:p>
            <a:pPr/>
            <a:r>
              <a:rPr lang="en-US" dirty="0"/>
              <a:t>Box-Whisker</a:t>
            </a:r>
            <a:endParaRPr lang="en-US"/>
          </a:p>
        </p:txBody>
      </p:sp>
      <p:graphicFrame>
        <p:nvGraphicFramePr>
          <p:cNvPr id="114" name="Chart 14"/>
          <p:cNvGraphicFramePr/>
          <p:nvPr/>
        </p:nvGraphicFramePr>
        <p:xfrm>
          <a:off x="571500" y="571500"/>
          <a:ext cx="8001000" cy="4000500"/>
        </p:xfrm>
        <a:graphic>
          <a:graphicData uri="http://schemas.microsoft.com/office/drawing/2014/chartex">
            <cx:chart xmlns:cx="http://schemas.microsoft.com/office/drawing/2014/chartex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pptx-viewer-sdk</Application>
  <Slides>14</Slides>
  <ScaleCrop>false</ScaleCrop>
  <LinksUpToDate>false</LinksUpToDate>
  <SharedDoc>false</SharedDoc>
  <HyperlinksChanged>false</HyperlinksChanged>
  <AppVersion>1.0000</AppVersion>
  <HiddenSlides>0</HiddenSlides>
  <Notes>0</Not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Chart Gallery Fixture</dc:title>
  <dc:creator>pptx-viewer-sdk</dc:creator>
  <cp:lastModifiedBy>pptx-viewer-sdk</cp:lastModifiedBy>
  <cp:revision>2</cp:revision>
  <dcterms:created xsi:type="dcterms:W3CDTF">2000-01-01T00:00:00Z</dcterms:created>
  <dcterms:modified xsi:type="dcterms:W3CDTF">2000-01-01T00:00:00Z</dcterms:modified>
</cp:coreProperties>
</file>