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ms-office.chartex+xml"/>
  <Override PartName="/ppt/charts/chart12.xml" ContentType="application/vnd.ms-office.chartex+xml"/>
  <Override PartName="/ppt/charts/chart13.xml" ContentType="application/vnd.ms-office.chartex+xml"/>
  <Override PartName="/ppt/charts/chart14.xml" ContentType="application/vnd.ms-office.chartex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ms-office.chartex+xml"/>
  <Override PartName="/ppt/charts/chart19.xml" ContentType="application/vnd.ms-office.chartex+xml"/>
  <Override PartName="/ppt/charts/chart20.xml" ContentType="application/vnd.ms-office.chartex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Relationship Id="rId13" Type="http://schemas.openxmlformats.org/officeDocument/2006/relationships/slide" Target="slides/slide8.xml"></Relationship><Relationship Id="rId14" Type="http://schemas.openxmlformats.org/officeDocument/2006/relationships/slide" Target="slides/slide9.xml"></Relationship><Relationship Id="rId15" Type="http://schemas.openxmlformats.org/officeDocument/2006/relationships/slide" Target="slides/slide10.xml"></Relationship><Relationship Id="rId16" Type="http://schemas.openxmlformats.org/officeDocument/2006/relationships/slide" Target="slides/slide11.xml"></Relationship><Relationship Id="rId17" Type="http://schemas.openxmlformats.org/officeDocument/2006/relationships/slide" Target="slides/slide12.xml"></Relationship><Relationship Id="rId18" Type="http://schemas.openxmlformats.org/officeDocument/2006/relationships/slide" Target="slides/slide13.xml"></Relationship><Relationship Id="rId19" Type="http://schemas.openxmlformats.org/officeDocument/2006/relationships/slide" Target="slides/slide14.xml"></Relationship><Relationship Id="rId20" Type="http://schemas.openxmlformats.org/officeDocument/2006/relationships/slide" Target="slides/slide15.xml"></Relationship><Relationship Id="rId21" Type="http://schemas.openxmlformats.org/officeDocument/2006/relationships/slide" Target="slides/slide16.xml"></Relationship><Relationship Id="rId22" Type="http://schemas.openxmlformats.org/officeDocument/2006/relationships/slide" Target="slides/slide17.xml"></Relationship><Relationship Id="rId23" Type="http://schemas.openxmlformats.org/officeDocument/2006/relationships/slide" Target="slides/slide18.xml"></Relationship><Relationship Id="rId24" Type="http://schemas.openxmlformats.org/officeDocument/2006/relationships/slide" Target="slides/slide19.xml"></Relationship><Relationship Id="rId25" Type="http://schemas.openxmlformats.org/officeDocument/2006/relationships/slide" Target="slides/slide20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Clustered Bar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gapWidth val="15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Line (with trendline)</a:t>
            </a:r>
          </a:p>
        </c:rich>
      </c:tx>
      <c:overlay val="0"/>
    </c:title>
    <c:autoTitleDeleted val="0"/>
    <c:plotArea>
      <c:layout/>
      <c:line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solidFill>
                <a:srgbClr val="4472C4"/>
              </a:solidFill>
            </a:ln>
          </c:spPr>
          <c:trendline>
            <c:spPr>
              <a:ln>
                <a:solidFill>
                  <a:srgbClr val="FF0000"/>
                </a:solidFill>
              </a:ln>
            </c:spPr>
            <c:trendlineType val="linear"/>
          </c:trendline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Area</a:t>
            </a:r>
          </a:p>
        </c:rich>
      </c:tx>
      <c:overlay val="0"/>
    </c:title>
    <c:autoTitleDeleted val="0"/>
    <c:plotArea>
      <c:layout/>
      <c:area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Pie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</c:pieChart>
    </c:plotArea>
    <c:legend>
      <c:legendPos val="b"/>
      <c:overlay val="0"/>
    </c:legend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Doughnut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holeSize val="50"/>
      </c:doughnutChart>
    </c:plotArea>
    <c:legend>
      <c:legendPos val="b"/>
      <c:overlay val="0"/>
    </c:legend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Scatter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4472C4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ED7D31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</c:ser>
        <c:axId val="111111111"/>
        <c:axId val="222222222"/>
      </c:scatter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Bubble</a:t>
            </a:r>
          </a:p>
        </c:rich>
      </c:tx>
      <c:overlay val="0"/>
    </c:title>
    <c:autoTitleDeleted val="0"/>
    <c:plotArea>
      <c:layout/>
      <c:bubbleChart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7</c:v>
                </c:pt>
                <c:pt idx="3">
                  <c:v>9</c:v>
                </c:pt>
              </c:numCache>
            </c:numRef>
          </c:bubbleSize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bubbleSize>
        </c:ser>
        <c:axId val="111111111"/>
        <c:axId val="222222222"/>
      </c:bubble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Stacked Bar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Percent Stacked Bar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1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Funnel</a:t>
            </a:r>
          </a:p>
        </cx:rich>
      </cx:tx>
    </cx:title>
    <cx:plotArea>
      <cx:plotAreaRegion>
        <cx:series layoutId="funne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2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</cx:chartData>
  <cx:chart>
    <cx:title>
      <cx:tx>
        <cx:rich>
          <a:p>
            <a:r>
              <a:t>Sunburst</a:t>
            </a:r>
          </a:p>
        </cx:rich>
      </cx:tx>
    </cx:title>
    <cx:plotArea>
      <cx:plotAreaRegion>
        <cx:series layoutId="sunburst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sunburst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</cx:plotAreaRegion>
    </cx:plotArea>
    <cx:legend pos="b"/>
  </cx:chart>
</cx:chartSpace>
</file>

<file path=ppt/charts/chart13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Histogram</a:t>
            </a:r>
          </a:p>
        </cx:rich>
      </cx:tx>
    </cx:title>
    <cx:plotArea>
      <cx:plotAreaRegion>
        <cx:series layoutId="histogram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4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  <cx:data id="2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18</cx:pt>
          <cx:pt idx="1">24</cx:pt>
          <cx:pt idx="2">29</cx:pt>
          <cx:pt idx="3">33</cx:pt>
        </cx:lvl>
      </cx:numDim>
    </cx:data>
  </cx:chartData>
  <cx:chart>
    <cx:title>
      <cx:tx>
        <cx:rich>
          <a:p>
            <a:r>
              <a:t>Box-Whisker</a:t>
            </a:r>
          </a:p>
        </cx:rich>
      </cx:tx>
    </cx:title>
    <cx:plotArea>
      <cx:plotAreaRegion>
        <cx:series layoutId="boxWhisker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boxWhisker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  <cx:series layoutId="boxWhisker" uniqueId="{00000002-0000-0000-0000-000000000000}">
          <cx:tx>
            <cx:txData>
              <cx:f>Sheet1!$B$1</cx:f>
              <cx:v>Profit</cx:v>
            </cx:txData>
          </cx:tx>
          <cx:spPr>
            <a:solidFill>
              <a:srgbClr val="70AD47"/>
            </a:solidFill>
          </cx:spPr>
          <cx:dataId val="2"/>
        </cx:series>
      </cx:plotAreaRegion>
    </cx:plotArea>
    <cx:legend pos="b"/>
  </cx:chart>
</cx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Combo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gapWidth val="150"/>
        <c:overlap val="-27"/>
        <c:axId val="111111111"/>
        <c:axId val="222222222"/>
      </c:barChart>
      <c:lineChart>
        <c:grouping val="standard"/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ln>
              <a:solidFill>
                <a:srgbClr val="70AD47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marker val="1"/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Stock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spPr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58</c:v>
                </c:pt>
                <c:pt idx="2">
                  <c:v>55</c:v>
                </c:pt>
                <c:pt idx="3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High</c:v>
                </c:pt>
              </c:strCache>
            </c:strRef>
          </c:tx>
          <c:spPr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65</c:v>
                </c:pt>
                <c:pt idx="2">
                  <c:v>62</c:v>
                </c:pt>
                <c:pt idx="3">
                  <c:v>74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Low</c:v>
                </c:pt>
              </c:strCache>
            </c:strRef>
          </c:tx>
          <c:spPr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52</c:v>
                </c:pt>
                <c:pt idx="2">
                  <c:v>51</c:v>
                </c:pt>
                <c:pt idx="3">
                  <c:v>61</c:v>
                </c:pt>
              </c:numCache>
            </c:numRef>
          </c:val>
        </c:ser>
        <c:ser>
          <c:idx val="3"/>
          <c:order val="3"/>
          <c:tx>
            <c:strRef>
              <c:f>Sheet1!$B$1</c:f>
              <c:strCache>
                <c:ptCount val="1"/>
                <c:pt idx="0">
                  <c:v>Close</c:v>
                </c:pt>
              </c:strCache>
            </c:strRef>
          </c:tx>
          <c:spPr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</c:v>
                </c:pt>
                <c:pt idx="1">
                  <c:v>61</c:v>
                </c:pt>
                <c:pt idx="2">
                  <c:v>53</c:v>
                </c:pt>
                <c:pt idx="3">
                  <c:v>71</c:v>
                </c:pt>
              </c:numCache>
            </c:numRef>
          </c:val>
        </c:ser>
        <c:hiLowLines/>
        <c:upDownBars>
          <c:gapWidth val="150"/>
        </c:upDownBars>
        <c:axId val="111111111"/>
        <c:axId val="222222222"/>
      </c:stock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Surface</a:t>
            </a:r>
          </a:p>
        </c:rich>
      </c:tx>
      <c:overlay val="0"/>
    </c:title>
    <c:autoTitleDeleted val="0"/>
    <c:plotArea>
      <c:layout/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axId val="111111111"/>
        <c:axId val="222222222"/>
        <c:axId val="333333333"/>
      </c:surfac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  <c:serAx>
        <c:axId val="333333333"/>
        <c:scaling>
          <c:orientation val="minMax"/>
        </c:scaling>
        <c:delete val="0"/>
        <c:axPos val="b"/>
        <c:crossAx val="222222222"/>
      </c:serAx>
    </c:plotArea>
    <c:legend>
      <c:legendPos val="b"/>
      <c:overlay val="0"/>
    </c:legend>
    <c:plotVisOnly val="1"/>
  </c:chart>
</c:chartSpace>
</file>

<file path=ppt/charts/chart18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Waterfall</a:t>
            </a:r>
          </a:p>
        </cx:rich>
      </cx:tx>
    </cx:title>
    <cx:plotArea>
      <cx:plotAreaRegion>
        <cx:series layoutId="waterfal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9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Treemap</a:t>
            </a:r>
          </a:p>
        </cx:rich>
      </cx:tx>
    </cx:title>
    <cx:plotArea>
      <cx:plotAreaRegion>
        <cx:series layoutId="treemap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20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United States</cx:pt>
          <cx:pt idx="1">Germany</cx:pt>
          <cx:pt idx="2">China</cx:pt>
          <cx:pt idx="3">Brazil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Region Map</a:t>
            </a:r>
          </a:p>
        </cx:rich>
      </cx:tx>
    </cx:title>
    <cx:plotArea>
      <cx:plotAreaRegion>
        <cx:series layoutId="regionMap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2.xml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3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4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5.xml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6.xml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7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8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9.xml"/></Relationships>
</file>

<file path=ppt/slides/_rels/slide10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0.xml"/></Relationships>
</file>

<file path=ppt/slides/_rels/slide1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1.xml"/></Relationships>
</file>

<file path=ppt/slides/_rels/slide1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2.xml"/></Relationships>
</file>

<file path=ppt/slides/_rels/slide1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3.xml"/></Relationships>
</file>

<file path=ppt/slides/_rels/slide1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4.xml"/></Relationships>
</file>

<file path=ppt/slides/_rels/slide15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5.xml"/></Relationships>
</file>

<file path=ppt/slides/_rels/slide16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6.xml"/></Relationships>
</file>

<file path=ppt/slides/_rels/slide17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7.xml"/></Relationships>
</file>

<file path=ppt/slides/_rels/slide18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8.xml"/></Relationships>
</file>

<file path=ppt/slides/_rels/slide19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9.xml"/></Relationships>
</file>

<file path=ppt/slides/_rels/slide20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Clustered Bar</a:t>
            </a:r>
            <a:endParaRPr lang="en-US"/>
          </a:p>
        </p:txBody>
      </p:sp>
      <p:graphicFrame>
        <p:nvGraphicFramePr>
          <p:cNvPr id="101" name="Chart 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Line (with trendline)</a:t>
            </a:r>
            <a:endParaRPr lang="en-US"/>
          </a:p>
        </p:txBody>
      </p:sp>
      <p:graphicFrame>
        <p:nvGraphicFramePr>
          <p:cNvPr id="102" name="Chart 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Area</a:t>
            </a:r>
            <a:endParaRPr lang="en-US"/>
          </a:p>
        </p:txBody>
      </p:sp>
      <p:graphicFrame>
        <p:nvGraphicFramePr>
          <p:cNvPr id="103" name="Chart 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Pie</a:t>
            </a:r>
            <a:endParaRPr lang="en-US"/>
          </a:p>
        </p:txBody>
      </p:sp>
      <p:graphicFrame>
        <p:nvGraphicFramePr>
          <p:cNvPr id="104" name="Chart 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Doughnut</a:t>
            </a:r>
            <a:endParaRPr lang="en-US"/>
          </a:p>
        </p:txBody>
      </p:sp>
      <p:graphicFrame>
        <p:nvGraphicFramePr>
          <p:cNvPr id="105" name="Chart 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Radar</a:t>
            </a:r>
            <a:endParaRPr lang="en-US"/>
          </a:p>
        </p:txBody>
      </p:sp>
      <p:graphicFrame>
        <p:nvGraphicFramePr>
          <p:cNvPr id="106" name="Chart 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Scatter</a:t>
            </a:r>
            <a:endParaRPr lang="en-US"/>
          </a:p>
        </p:txBody>
      </p:sp>
      <p:graphicFrame>
        <p:nvGraphicFramePr>
          <p:cNvPr id="107" name="Chart 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8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Bubble</a:t>
            </a:r>
            <a:endParaRPr lang="en-US"/>
          </a:p>
        </p:txBody>
      </p:sp>
      <p:graphicFrame>
        <p:nvGraphicFramePr>
          <p:cNvPr id="108" name="Chart 8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Stacked Bar</a:t>
            </a:r>
            <a:endParaRPr lang="en-US"/>
          </a:p>
        </p:txBody>
      </p:sp>
      <p:graphicFrame>
        <p:nvGraphicFramePr>
          <p:cNvPr id="109" name="Chart 9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0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Percent Stacked Bar</a:t>
            </a:r>
            <a:endParaRPr lang="en-US"/>
          </a:p>
        </p:txBody>
      </p:sp>
      <p:graphicFrame>
        <p:nvGraphicFramePr>
          <p:cNvPr id="110" name="Chart 10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Funnel</a:t>
            </a:r>
            <a:endParaRPr lang="en-US"/>
          </a:p>
        </p:txBody>
      </p:sp>
      <p:graphicFrame>
        <p:nvGraphicFramePr>
          <p:cNvPr id="111" name="Chart 11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Sunburst</a:t>
            </a:r>
            <a:endParaRPr lang="en-US"/>
          </a:p>
        </p:txBody>
      </p:sp>
      <p:graphicFrame>
        <p:nvGraphicFramePr>
          <p:cNvPr id="112" name="Chart 12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Histogram</a:t>
            </a:r>
            <a:endParaRPr lang="en-US"/>
          </a:p>
        </p:txBody>
      </p:sp>
      <p:graphicFrame>
        <p:nvGraphicFramePr>
          <p:cNvPr id="113" name="Chart 13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Box-Whisker</a:t>
            </a:r>
            <a:endParaRPr lang="en-US"/>
          </a:p>
        </p:txBody>
      </p:sp>
      <p:graphicFrame>
        <p:nvGraphicFramePr>
          <p:cNvPr id="114" name="Chart 14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5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Combo</a:t>
            </a:r>
            <a:endParaRPr lang="en-US"/>
          </a:p>
        </p:txBody>
      </p:sp>
      <p:graphicFrame>
        <p:nvGraphicFramePr>
          <p:cNvPr id="115" name="Chart 1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6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Stock</a:t>
            </a:r>
            <a:endParaRPr lang="en-US"/>
          </a:p>
        </p:txBody>
      </p:sp>
      <p:graphicFrame>
        <p:nvGraphicFramePr>
          <p:cNvPr id="116" name="Chart 1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7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Surface</a:t>
            </a:r>
            <a:endParaRPr lang="en-US"/>
          </a:p>
        </p:txBody>
      </p:sp>
      <p:graphicFrame>
        <p:nvGraphicFramePr>
          <p:cNvPr id="117" name="Chart 1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8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Waterfall</a:t>
            </a:r>
            <a:endParaRPr lang="en-US"/>
          </a:p>
        </p:txBody>
      </p:sp>
      <p:graphicFrame>
        <p:nvGraphicFramePr>
          <p:cNvPr id="118" name="Chart 18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9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Treemap</a:t>
            </a:r>
            <a:endParaRPr lang="en-US"/>
          </a:p>
        </p:txBody>
      </p:sp>
      <p:graphicFrame>
        <p:nvGraphicFramePr>
          <p:cNvPr id="119" name="Chart 19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20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Region Map</a:t>
            </a:r>
            <a:endParaRPr lang="en-US"/>
          </a:p>
        </p:txBody>
      </p:sp>
      <p:graphicFrame>
        <p:nvGraphicFramePr>
          <p:cNvPr id="120" name="Chart 20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20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Gallery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