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Old Standard TT"/>
      <p:regular r:id="rId16"/>
      <p:bold r:id="rId17"/>
      <p: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OldStandardTT-bold.fntdata"/><Relationship Id="rId16" Type="http://schemas.openxmlformats.org/officeDocument/2006/relationships/font" Target="fonts/OldStandardTT-regular.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OldStandardT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90357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9035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c6f90357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c6f90357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6f90357f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6f90357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c6f90357f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c6f90357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90357f_0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90357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c6f90357f_0_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c6f90357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c6f90357f_0_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c6f90357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c6f90357f_0_4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c6f90357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c6f90357f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c6f90357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1.jpg"/><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密度実験</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作者:あなたの名前</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物体の密度は、浮く能力にどのような影響を与えるのでしょうか?</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実験</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材料</a:t>
            </a:r>
            <a:endParaRPr/>
          </a:p>
        </p:txBody>
      </p:sp>
      <p:sp>
        <p:nvSpPr>
          <p:cNvPr id="76" name="Google Shape;76;p16"/>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家にあるもので揃います!</a:t>
            </a:r>
            <a:endParaRPr/>
          </a:p>
        </p:txBody>
      </p:sp>
      <p:sp>
        <p:nvSpPr>
          <p:cNvPr id="77" name="Google Shape;77;p1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コップ 2個</a:t>
            </a:r>
            <a:endParaRPr/>
          </a:p>
          <a:p>
            <a:pPr indent="-342900" lvl="0" marL="457200" rtl="0" algn="l">
              <a:spcBef>
                <a:spcPts val="1600"/>
              </a:spcBef>
              <a:spcAft>
                <a:spcPts val="0"/>
              </a:spcAft>
              <a:buSzPts val="1800"/>
              <a:buChar char="●"/>
            </a:pPr>
            <a:r>
              <a:rPr lang="en"/>
              <a:t>食塩</a:t>
            </a:r>
            <a:endParaRPr/>
          </a:p>
          <a:p>
            <a:pPr indent="-342900" lvl="0" marL="457200" rtl="0" algn="l">
              <a:spcBef>
                <a:spcPts val="1600"/>
              </a:spcBef>
              <a:spcAft>
                <a:spcPts val="0"/>
              </a:spcAft>
              <a:buSzPts val="1800"/>
              <a:buChar char="●"/>
            </a:pPr>
            <a:r>
              <a:rPr lang="en"/>
              <a:t>卵 2個</a:t>
            </a:r>
            <a:endParaRPr/>
          </a:p>
          <a:p>
            <a:pPr indent="-342900" lvl="0" marL="457200" rtl="0" algn="l">
              <a:spcBef>
                <a:spcPts val="1600"/>
              </a:spcBef>
              <a:spcAft>
                <a:spcPts val="1600"/>
              </a:spcAft>
              <a:buSzPts val="1800"/>
              <a:buChar char="●"/>
            </a:pPr>
            <a:r>
              <a:rPr lang="en"/>
              <a:t>水</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手順</a:t>
            </a:r>
            <a:endParaRPr/>
          </a:p>
        </p:txBody>
      </p:sp>
      <p:sp>
        <p:nvSpPr>
          <p:cNvPr id="83" name="Google Shape;83;p17"/>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Lorem ipsum dolor sit amet, consectetur adipiscing elit, sed do eiusmod tempor incididunt ut labore et dolore magna aliqua</a:t>
            </a:r>
            <a:endParaRPr sz="1600"/>
          </a:p>
          <a:p>
            <a:pPr indent="-330200" lvl="0" marL="457200" rtl="0" algn="l">
              <a:spcBef>
                <a:spcPts val="1600"/>
              </a:spcBef>
              <a:spcAft>
                <a:spcPts val="0"/>
              </a:spcAft>
              <a:buSzPts val="1600"/>
              <a:buAutoNum type="arabicPeriod"/>
            </a:pPr>
            <a:r>
              <a:rPr lang="en" sz="1600"/>
              <a:t>Incididunt ut labore et dolore</a:t>
            </a:r>
            <a:endParaRPr sz="1600"/>
          </a:p>
          <a:p>
            <a:pPr indent="-330200" lvl="0" marL="457200" rtl="0" algn="l">
              <a:spcBef>
                <a:spcPts val="1600"/>
              </a:spcBef>
              <a:spcAft>
                <a:spcPts val="0"/>
              </a:spcAft>
              <a:buSzPts val="1600"/>
              <a:buAutoNum type="arabicPeriod"/>
            </a:pPr>
            <a:r>
              <a:rPr lang="en" sz="1600"/>
              <a:t>Consectetur adipiscing elit, sed do eiusmod tempor incididunt ut labore et dolore magna aliqua</a:t>
            </a:r>
            <a:endParaRPr sz="1600"/>
          </a:p>
          <a:p>
            <a:pPr indent="-330200" lvl="0" marL="457200" rtl="0" algn="l">
              <a:spcBef>
                <a:spcPts val="1600"/>
              </a:spcBef>
              <a:spcAft>
                <a:spcPts val="1600"/>
              </a:spcAft>
              <a:buSzPts val="1600"/>
              <a:buAutoNum type="arabicPeriod"/>
            </a:pPr>
            <a:r>
              <a:rPr lang="en" sz="1600"/>
              <a:t>Incididunt ut labore et dolore</a:t>
            </a:r>
            <a:endParaRPr sz="1600"/>
          </a:p>
        </p:txBody>
      </p:sp>
      <p:pic>
        <p:nvPicPr>
          <p:cNvPr descr="Overhead shot of hand holding cup of light-colored tea with lemon slices floating in it" id="84" name="Google Shape;84;p17"/>
          <p:cNvPicPr preferRelativeResize="0"/>
          <p:nvPr/>
        </p:nvPicPr>
        <p:blipFill rotWithShape="1">
          <a:blip r:embed="rId3">
            <a:alphaModFix/>
          </a:blip>
          <a:srcRect b="4068" l="17814" r="16062" t="0"/>
          <a:stretch/>
        </p:blipFill>
        <p:spPr>
          <a:xfrm>
            <a:off x="4705150" y="342525"/>
            <a:ext cx="2035799" cy="1955427"/>
          </a:xfrm>
          <a:prstGeom prst="rect">
            <a:avLst/>
          </a:prstGeom>
          <a:noFill/>
          <a:ln>
            <a:noFill/>
          </a:ln>
        </p:spPr>
      </p:pic>
      <p:pic>
        <p:nvPicPr>
          <p:cNvPr descr="Modern, round computer speaker" id="85" name="Google Shape;85;p17"/>
          <p:cNvPicPr preferRelativeResize="0"/>
          <p:nvPr/>
        </p:nvPicPr>
        <p:blipFill rotWithShape="1">
          <a:blip r:embed="rId4">
            <a:alphaModFix/>
          </a:blip>
          <a:srcRect b="15127" l="6180" r="35688" t="10755"/>
          <a:stretch/>
        </p:blipFill>
        <p:spPr>
          <a:xfrm>
            <a:off x="6796425" y="342525"/>
            <a:ext cx="2035799" cy="1946700"/>
          </a:xfrm>
          <a:prstGeom prst="rect">
            <a:avLst/>
          </a:prstGeom>
          <a:noFill/>
          <a:ln>
            <a:noFill/>
          </a:ln>
        </p:spPr>
      </p:pic>
      <p:pic>
        <p:nvPicPr>
          <p:cNvPr descr="Empty upside down mason jars resting on picket fence posts" id="86" name="Google Shape;86;p17"/>
          <p:cNvPicPr preferRelativeResize="0"/>
          <p:nvPr/>
        </p:nvPicPr>
        <p:blipFill rotWithShape="1">
          <a:blip r:embed="rId5">
            <a:alphaModFix/>
          </a:blip>
          <a:srcRect b="9950" l="9165" r="3636" t="13038"/>
          <a:stretch/>
        </p:blipFill>
        <p:spPr>
          <a:xfrm>
            <a:off x="4705200" y="2336175"/>
            <a:ext cx="4127099" cy="24203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仮説</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観客に、何が起こると予想しているかを伝えましょう…</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こうなると思う理由は……</a:t>
            </a:r>
            <a:endParaRPr b="1" sz="1800"/>
          </a:p>
          <a:p>
            <a:pPr indent="0" lvl="0" marL="0" rtl="0" algn="l">
              <a:spcBef>
                <a:spcPts val="1600"/>
              </a:spcBef>
              <a:spcAft>
                <a:spcPts val="1600"/>
              </a:spcAft>
              <a:buNone/>
            </a:pPr>
            <a:r>
              <a:rPr lang="en" sz="1600"/>
              <a:t>Lorem ipsum dolor sit amet, consectetur adipiscing elit, sed do eiusmod tempor incididunt ut labore et dolore magna aliqua. Ut enim ad minim veniam, quis nostrud exercitation ullamco laboris nisi ut aliquip.</a:t>
            </a:r>
            <a:endParaRPr sz="1600"/>
          </a:p>
        </p:txBody>
      </p:sp>
      <p:sp>
        <p:nvSpPr>
          <p:cNvPr id="102" name="Google Shape;102;p20"/>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結果に影響を与える可能性のある変数……</a:t>
            </a:r>
            <a:endParaRPr b="1" sz="1800"/>
          </a:p>
          <a:p>
            <a:pPr indent="-330200" lvl="0" marL="457200" rtl="0" algn="l">
              <a:spcBef>
                <a:spcPts val="1600"/>
              </a:spcBef>
              <a:spcAft>
                <a:spcPts val="0"/>
              </a:spcAft>
              <a:buSzPts val="1600"/>
              <a:buChar char="●"/>
            </a:pPr>
            <a:r>
              <a:rPr b="1" lang="en" sz="1800"/>
              <a:t>Lorem ipsum dolor sit amet, consectetur adipiscing elit</a:t>
            </a:r>
            <a:endParaRPr b="1" sz="1800"/>
          </a:p>
          <a:p>
            <a:pPr indent="-330200" lvl="0" marL="457200" rtl="0" algn="l">
              <a:spcBef>
                <a:spcPts val="0"/>
              </a:spcBef>
              <a:spcAft>
                <a:spcPts val="0"/>
              </a:spcAft>
              <a:buSzPts val="1600"/>
              <a:buChar char="●"/>
            </a:pPr>
            <a:r>
              <a:rPr b="1" lang="en" sz="1800"/>
              <a:t>Sed do eiusmod tempor incididunt ut labore et dolore magna aliqua</a:t>
            </a:r>
            <a:endParaRPr b="1" sz="1800"/>
          </a:p>
        </p:txBody>
      </p:sp>
      <p:sp>
        <p:nvSpPr>
          <p:cNvPr id="103" name="Google Shape;103;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仮説の根拠</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descr="Looking through a cardboard paper-towel roll towards light at the end of it" id="108" name="Google Shape;108;p21"/>
          <p:cNvPicPr preferRelativeResize="0"/>
          <p:nvPr/>
        </p:nvPicPr>
        <p:blipFill rotWithShape="1">
          <a:blip r:embed="rId3">
            <a:alphaModFix/>
          </a:blip>
          <a:srcRect b="984" l="22872" r="19354" t="1578"/>
          <a:stretch/>
        </p:blipFill>
        <p:spPr>
          <a:xfrm>
            <a:off x="0" y="0"/>
            <a:ext cx="4576348" cy="5143501"/>
          </a:xfrm>
          <a:prstGeom prst="rect">
            <a:avLst/>
          </a:prstGeom>
          <a:noFill/>
          <a:ln>
            <a:noFill/>
          </a:ln>
        </p:spPr>
      </p:pic>
      <p:pic>
        <p:nvPicPr>
          <p:cNvPr descr="Overhead shot of various masculine accessories including large headphones, a bow-tie, and a wrist watch" id="109" name="Google Shape;109;p21"/>
          <p:cNvPicPr preferRelativeResize="0"/>
          <p:nvPr/>
        </p:nvPicPr>
        <p:blipFill rotWithShape="1">
          <a:blip r:embed="rId4">
            <a:alphaModFix/>
          </a:blip>
          <a:srcRect b="6841" l="37422" r="8655" t="840"/>
          <a:stretch/>
        </p:blipFill>
        <p:spPr>
          <a:xfrm>
            <a:off x="4576350" y="0"/>
            <a:ext cx="4567649" cy="5143200"/>
          </a:xfrm>
          <a:prstGeom prst="rect">
            <a:avLst/>
          </a:prstGeom>
          <a:noFill/>
          <a:ln>
            <a:noFill/>
          </a:ln>
        </p:spPr>
      </p:pic>
      <p:sp>
        <p:nvSpPr>
          <p:cNvPr id="110" name="Google Shape;110;p21"/>
          <p:cNvSpPr txBox="1"/>
          <p:nvPr>
            <p:ph idx="1" type="body"/>
          </p:nvPr>
        </p:nvSpPr>
        <p:spPr>
          <a:xfrm>
            <a:off x="311700" y="4230575"/>
            <a:ext cx="5998800" cy="605100"/>
          </a:xfrm>
          <a:prstGeom prst="rect">
            <a:avLst/>
          </a:prstGeom>
          <a:solidFill>
            <a:schemeClr val="lt1"/>
          </a:solidFill>
        </p:spPr>
        <p:txBody>
          <a:bodyPr anchorCtr="0" anchor="ctr" bIns="91425" lIns="91425" spcFirstLastPara="1" rIns="91425" wrap="square" tIns="91425">
            <a:noAutofit/>
          </a:bodyPr>
          <a:lstStyle/>
          <a:p>
            <a:pPr indent="0" lvl="0" marL="0" rtl="0" algn="l">
              <a:spcBef>
                <a:spcPts val="0"/>
              </a:spcBef>
              <a:spcAft>
                <a:spcPts val="0"/>
              </a:spcAft>
              <a:buNone/>
            </a:pPr>
            <a:r>
              <a:rPr lang="en"/>
              <a:t>実験</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結論</a:t>
            </a:r>
            <a:endParaRPr/>
          </a:p>
        </p:txBody>
      </p:sp>
      <p:sp>
        <p:nvSpPr>
          <p:cNvPr id="116" name="Google Shape;116;p2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Lorem ipsum dolor sit amet, consectetur adipiscing elit, sed do eiusmod tempor incididunt ut labore et dolore magna aliqua. Ut enim ad minim veniam, quis nostrud exercitation ullamco laboris nisi ut aliquip.</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